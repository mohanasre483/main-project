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63" r:id="rId1"/>
  </p:sldMasterIdLst>
  <p:sldIdLst>
    <p:sldId id="256" r:id="rId2"/>
    <p:sldId id="257" r:id="rId3"/>
    <p:sldId id="271" r:id="rId4"/>
    <p:sldId id="258" r:id="rId5"/>
    <p:sldId id="259" r:id="rId6"/>
    <p:sldId id="260" r:id="rId7"/>
    <p:sldId id="261" r:id="rId8"/>
    <p:sldId id="262" r:id="rId9"/>
    <p:sldId id="272" r:id="rId10"/>
    <p:sldId id="273" r:id="rId11"/>
    <p:sldId id="274" r:id="rId12"/>
    <p:sldId id="264" r:id="rId13"/>
    <p:sldId id="282" r:id="rId14"/>
    <p:sldId id="263" r:id="rId15"/>
    <p:sldId id="275" r:id="rId16"/>
    <p:sldId id="276" r:id="rId17"/>
    <p:sldId id="266" r:id="rId18"/>
    <p:sldId id="277" r:id="rId19"/>
    <p:sldId id="283" r:id="rId20"/>
    <p:sldId id="267" r:id="rId21"/>
    <p:sldId id="278" r:id="rId22"/>
    <p:sldId id="279" r:id="rId23"/>
    <p:sldId id="280" r:id="rId24"/>
    <p:sldId id="281" r:id="rId25"/>
    <p:sldId id="265" r:id="rId26"/>
    <p:sldId id="269" r:id="rId27"/>
    <p:sldId id="270"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C30170-1882-4B15-8BDB-AF8D31487FDE}" v="204" dt="2026-09-26T04:45:14.9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72" autoAdjust="0"/>
    <p:restoredTop sz="94660"/>
  </p:normalViewPr>
  <p:slideViewPr>
    <p:cSldViewPr snapToGrid="0">
      <p:cViewPr varScale="1">
        <p:scale>
          <a:sx n="78" d="100"/>
          <a:sy n="78" d="100"/>
        </p:scale>
        <p:origin x="902"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30431166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8634073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34727897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AC2C9F-5CCE-4905-81BB-6F744C97F30C}" type="datetimeFigureOut">
              <a:rPr lang="en-IN" smtClean="0"/>
              <a:t>26-09-2026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21231775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AC2C9F-5CCE-4905-81BB-6F744C97F30C}" type="datetimeFigureOut">
              <a:rPr lang="en-IN" smtClean="0"/>
              <a:t>26-09-2026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3219427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3"/>
          <p:cNvSpPr>
            <a:spLocks noGrp="1"/>
          </p:cNvSpPr>
          <p:nvPr>
            <p:ph type="ftr" sz="quarter" idx="11"/>
          </p:nvPr>
        </p:nvSpPr>
        <p:spPr/>
        <p:txBody>
          <a:bodyPr/>
          <a:lstStyle/>
          <a:p>
            <a:endParaRPr lang="en-IN"/>
          </a:p>
        </p:txBody>
      </p:sp>
      <p:sp>
        <p:nvSpPr>
          <p:cNvPr id="6" name="Slide Number Placeholder 4"/>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3689971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2"/>
          <p:cNvSpPr>
            <a:spLocks noGrp="1"/>
          </p:cNvSpPr>
          <p:nvPr>
            <p:ph type="ftr" sz="quarter" idx="11"/>
          </p:nvPr>
        </p:nvSpPr>
        <p:spPr/>
        <p:txBody>
          <a:bodyPr/>
          <a:lstStyle/>
          <a:p>
            <a:endParaRPr lang="en-IN"/>
          </a:p>
        </p:txBody>
      </p:sp>
      <p:sp>
        <p:nvSpPr>
          <p:cNvPr id="6" name="Slide Number Placeholder 3"/>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28049934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3"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5" y="3129280"/>
            <a:ext cx="3401062"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5"/>
          <p:cNvSpPr>
            <a:spLocks noGrp="1"/>
          </p:cNvSpPr>
          <p:nvPr>
            <p:ph type="ftr" sz="quarter" idx="11"/>
          </p:nvPr>
        </p:nvSpPr>
        <p:spPr/>
        <p:txBody>
          <a:bodyPr/>
          <a:lstStyle/>
          <a:p>
            <a:endParaRPr lang="en-IN"/>
          </a:p>
        </p:txBody>
      </p:sp>
      <p:sp>
        <p:nvSpPr>
          <p:cNvPr id="6" name="Slide Number Placeholder 6"/>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39854322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AC2C9F-5CCE-4905-81BB-6F744C97F30C}" type="datetimeFigureOut">
              <a:rPr lang="en-IN" smtClean="0"/>
              <a:t>26-09-2026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1193965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799"/>
            <a:ext cx="8825658" cy="3640667"/>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AC2C9F-5CCE-4905-81BB-6F744C97F30C}" type="datetimeFigureOut">
              <a:rPr lang="en-IN" smtClean="0"/>
              <a:t>26-09-2026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4792266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40298287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0" y="1447800"/>
            <a:ext cx="7999315" cy="2323374"/>
          </a:xfrm>
        </p:spPr>
        <p:txBody>
          <a:bodyPr/>
          <a:lstStyle>
            <a:lvl1pPr>
              <a:defRPr sz="4800"/>
            </a:lvl1pPr>
          </a:lstStyle>
          <a:p>
            <a:r>
              <a:rPr lang="en-US"/>
              <a:t>Click to edit Master title style</a:t>
            </a:r>
            <a:endParaRPr lang="en-US" dirty="0"/>
          </a:p>
        </p:txBody>
      </p:sp>
      <p:sp>
        <p:nvSpPr>
          <p:cNvPr id="14" name="Text Placeholder 3"/>
          <p:cNvSpPr>
            <a:spLocks noGrp="1"/>
          </p:cNvSpPr>
          <p:nvPr>
            <p:ph type="body" sz="half" idx="13"/>
          </p:nvPr>
        </p:nvSpPr>
        <p:spPr>
          <a:xfrm>
            <a:off x="1930400" y="3771174"/>
            <a:ext cx="7279649" cy="342174"/>
          </a:xfrm>
        </p:spPr>
        <p:txBody>
          <a:bodyPr anchor="t">
            <a:normAutofit/>
          </a:bodyPr>
          <a:lstStyle>
            <a:lvl1pPr marL="0" indent="0">
              <a:buNone/>
              <a:defRPr lang="en-US" sz="1400" b="0" i="0" kern="1200" cap="small" dirty="0">
                <a:solidFill>
                  <a:schemeClr val="accent1">
                    <a:lumMod val="60000"/>
                    <a:lumOff val="4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
        <p:nvSpPr>
          <p:cNvPr id="12" name="TextBox 11"/>
          <p:cNvSpPr txBox="1"/>
          <p:nvPr/>
        </p:nvSpPr>
        <p:spPr>
          <a:xfrm>
            <a:off x="898295" y="971253"/>
            <a:ext cx="801912" cy="1969770"/>
          </a:xfrm>
          <a:prstGeom prst="rect">
            <a:avLst/>
          </a:prstGeom>
          <a:noFill/>
        </p:spPr>
        <p:txBody>
          <a:bodyPr wrap="square" rtlCol="0">
            <a:spAutoFit/>
          </a:bodyPr>
          <a:lstStyle/>
          <a:p>
            <a:pPr algn="r"/>
            <a:r>
              <a:rPr lang="en-US" sz="12200" b="0" i="0" dirty="0">
                <a:solidFill>
                  <a:schemeClr val="accent1">
                    <a:lumMod val="60000"/>
                    <a:lumOff val="40000"/>
                  </a:schemeClr>
                </a:solidFill>
                <a:latin typeface="Arial"/>
                <a:ea typeface="+mj-ea"/>
                <a:cs typeface="+mj-cs"/>
              </a:rPr>
              <a:t>“</a:t>
            </a:r>
          </a:p>
        </p:txBody>
      </p:sp>
      <p:sp>
        <p:nvSpPr>
          <p:cNvPr id="11" name="TextBox 10"/>
          <p:cNvSpPr txBox="1"/>
          <p:nvPr/>
        </p:nvSpPr>
        <p:spPr>
          <a:xfrm>
            <a:off x="9330490" y="2613787"/>
            <a:ext cx="801912" cy="1969770"/>
          </a:xfrm>
          <a:prstGeom prst="rect">
            <a:avLst/>
          </a:prstGeom>
          <a:noFill/>
        </p:spPr>
        <p:txBody>
          <a:bodyPr wrap="square" rtlCol="0">
            <a:spAutoFit/>
          </a:bodyPr>
          <a:lstStyle/>
          <a:p>
            <a:pPr algn="r"/>
            <a:r>
              <a:rPr lang="en-US" sz="12200" b="0" i="0" dirty="0">
                <a:solidFill>
                  <a:schemeClr val="accent1">
                    <a:lumMod val="60000"/>
                    <a:lumOff val="40000"/>
                  </a:schemeClr>
                </a:solidFill>
                <a:latin typeface="Arial"/>
                <a:ea typeface="+mj-ea"/>
                <a:cs typeface="+mj-cs"/>
              </a:rPr>
              <a:t>”</a:t>
            </a:r>
          </a:p>
        </p:txBody>
      </p:sp>
    </p:spTree>
    <p:extLst>
      <p:ext uri="{BB962C8B-B14F-4D97-AF65-F5344CB8AC3E}">
        <p14:creationId xmlns:p14="http://schemas.microsoft.com/office/powerpoint/2010/main" val="24279570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59"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15994082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19476024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29896262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1679510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AC2C9F-5CCE-4905-81BB-6F744C97F30C}" type="datetimeFigureOut">
              <a:rPr lang="en-IN" smtClean="0"/>
              <a:t>26-09-2026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E7F0227-CB9F-4178-8BA9-D31B9C1EF0B5}" type="slidenum">
              <a:rPr lang="en-IN" smtClean="0"/>
              <a:t>‹#›</a:t>
            </a:fld>
            <a:endParaRPr lang="en-IN"/>
          </a:p>
        </p:txBody>
      </p:sp>
    </p:spTree>
    <p:extLst>
      <p:ext uri="{BB962C8B-B14F-4D97-AF65-F5344CB8AC3E}">
        <p14:creationId xmlns:p14="http://schemas.microsoft.com/office/powerpoint/2010/main" val="12191920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44"/>
          <a:stretch/>
        </p:blipFill>
        <p:spPr>
          <a:xfrm>
            <a:off x="0" y="2669685"/>
            <a:ext cx="4035669"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9012"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26AC2C9F-5CCE-4905-81BB-6F744C97F30C}" type="datetimeFigureOut">
              <a:rPr lang="en-IN" smtClean="0"/>
              <a:t>26-09-2026</a:t>
            </a:fld>
            <a:endParaRPr lang="en-IN"/>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IN"/>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6E7F0227-CB9F-4178-8BA9-D31B9C1EF0B5}" type="slidenum">
              <a:rPr lang="en-IN" smtClean="0"/>
              <a:t>‹#›</a:t>
            </a:fld>
            <a:endParaRPr lang="en-IN"/>
          </a:p>
        </p:txBody>
      </p:sp>
    </p:spTree>
    <p:extLst>
      <p:ext uri="{BB962C8B-B14F-4D97-AF65-F5344CB8AC3E}">
        <p14:creationId xmlns:p14="http://schemas.microsoft.com/office/powerpoint/2010/main" val="2231290399"/>
      </p:ext>
    </p:extLst>
  </p:cSld>
  <p:clrMap bg1="dk1" tx1="lt1" bg2="dk2" tx2="lt2" accent1="accent1" accent2="accent2" accent3="accent3" accent4="accent4" accent5="accent5" accent6="accent6" hlink="hlink" folHlink="folHlink"/>
  <p:sldLayoutIdLst>
    <p:sldLayoutId id="2147484264" r:id="rId1"/>
    <p:sldLayoutId id="2147484265" r:id="rId2"/>
    <p:sldLayoutId id="2147484266" r:id="rId3"/>
    <p:sldLayoutId id="2147484267" r:id="rId4"/>
    <p:sldLayoutId id="2147484268" r:id="rId5"/>
    <p:sldLayoutId id="2147484269" r:id="rId6"/>
    <p:sldLayoutId id="2147484270" r:id="rId7"/>
    <p:sldLayoutId id="2147484271" r:id="rId8"/>
    <p:sldLayoutId id="2147484272" r:id="rId9"/>
    <p:sldLayoutId id="2147484273" r:id="rId10"/>
    <p:sldLayoutId id="2147484274" r:id="rId11"/>
    <p:sldLayoutId id="2147484275" r:id="rId12"/>
    <p:sldLayoutId id="2147484276" r:id="rId13"/>
    <p:sldLayoutId id="2147484277" r:id="rId14"/>
    <p:sldLayoutId id="2147484278" r:id="rId15"/>
    <p:sldLayoutId id="2147484279" r:id="rId16"/>
    <p:sldLayoutId id="2147484280"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C84A5-E287-F067-7B79-57EF63BBD2F5}"/>
              </a:ext>
            </a:extLst>
          </p:cNvPr>
          <p:cNvSpPr>
            <a:spLocks noGrp="1"/>
          </p:cNvSpPr>
          <p:nvPr>
            <p:ph type="ctrTitle"/>
          </p:nvPr>
        </p:nvSpPr>
        <p:spPr>
          <a:xfrm>
            <a:off x="1524000" y="1122363"/>
            <a:ext cx="9144000" cy="804760"/>
          </a:xfrm>
        </p:spPr>
        <p:txBody>
          <a:bodyPr>
            <a:normAutofit/>
          </a:bodyPr>
          <a:lstStyle/>
          <a:p>
            <a:r>
              <a:rPr lang="en-IN" sz="4400" b="1" dirty="0">
                <a:solidFill>
                  <a:srgbClr val="EBF5FA"/>
                </a:solidFill>
                <a:latin typeface="Arial" panose="020B0604020202020204" pitchFamily="34" charset="0"/>
                <a:cs typeface="Arial" panose="020B0604020202020204" pitchFamily="34" charset="0"/>
              </a:rPr>
              <a:t>Global Cybersecurity Threats</a:t>
            </a:r>
            <a:endParaRPr lang="en-IN" sz="4400" dirty="0">
              <a:solidFill>
                <a:schemeClr val="tx1"/>
              </a:solidFill>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07C3B0C4-4B9D-A801-DED4-A485B2925D2B}"/>
              </a:ext>
            </a:extLst>
          </p:cNvPr>
          <p:cNvSpPr>
            <a:spLocks noGrp="1"/>
          </p:cNvSpPr>
          <p:nvPr>
            <p:ph type="subTitle" idx="1"/>
          </p:nvPr>
        </p:nvSpPr>
        <p:spPr>
          <a:xfrm>
            <a:off x="1425677" y="3275116"/>
            <a:ext cx="9144000" cy="1655762"/>
          </a:xfrm>
        </p:spPr>
        <p:txBody>
          <a:bodyPr>
            <a:normAutofit/>
          </a:bodyPr>
          <a:lstStyle/>
          <a:p>
            <a:pPr algn="r"/>
            <a:r>
              <a:rPr lang="en-US" sz="2800" dirty="0">
                <a:solidFill>
                  <a:srgbClr val="EBF5FA"/>
                </a:solidFill>
                <a:latin typeface="Arial" panose="020B0604020202020204" pitchFamily="34" charset="0"/>
                <a:cs typeface="Arial" panose="020B0604020202020204" pitchFamily="34" charset="0"/>
              </a:rPr>
              <a:t>By </a:t>
            </a:r>
          </a:p>
          <a:p>
            <a:pPr algn="r"/>
            <a:r>
              <a:rPr lang="en-US" sz="2800" dirty="0">
                <a:solidFill>
                  <a:srgbClr val="EBF5FA"/>
                </a:solidFill>
                <a:latin typeface="Arial" panose="020B0604020202020204" pitchFamily="34" charset="0"/>
                <a:cs typeface="Arial" panose="020B0604020202020204" pitchFamily="34" charset="0"/>
              </a:rPr>
              <a:t> Mohana Sre . J</a:t>
            </a:r>
            <a:endParaRPr lang="en-IN" sz="2800" dirty="0">
              <a:solidFill>
                <a:schemeClr val="tx1"/>
              </a:solidFill>
              <a:latin typeface="Arial" panose="020B0604020202020204" pitchFamily="34" charset="0"/>
              <a:cs typeface="Arial" panose="020B0604020202020204" pitchFamily="34" charset="0"/>
            </a:endParaRPr>
          </a:p>
        </p:txBody>
      </p:sp>
      <p:sp>
        <p:nvSpPr>
          <p:cNvPr id="4" name="Rectangle 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3109842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58C51-90BC-4D52-0D87-7761A8967872}"/>
              </a:ext>
            </a:extLst>
          </p:cNvPr>
          <p:cNvSpPr>
            <a:spLocks noGrp="1"/>
          </p:cNvSpPr>
          <p:nvPr>
            <p:ph type="title"/>
          </p:nvPr>
        </p:nvSpPr>
        <p:spPr>
          <a:xfrm>
            <a:off x="838200" y="378848"/>
            <a:ext cx="10515600" cy="302189"/>
          </a:xfrm>
        </p:spPr>
        <p:txBody>
          <a:bodyPr>
            <a:noAutofit/>
          </a:bodyPr>
          <a:lstStyle/>
          <a:p>
            <a:r>
              <a:rPr lang="en-US" sz="3200" b="1" dirty="0">
                <a:solidFill>
                  <a:srgbClr val="EBF5FA"/>
                </a:solidFill>
                <a:latin typeface="Arial" panose="020B0604020202020204" pitchFamily="34" charset="0"/>
                <a:cs typeface="Arial" panose="020B0604020202020204" pitchFamily="34" charset="0"/>
              </a:rPr>
              <a:t>Introduction</a:t>
            </a:r>
            <a:endParaRPr lang="en-IN" sz="3200" b="1" dirty="0">
              <a:solidFill>
                <a:schemeClr val="tx1"/>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2B9A4867-61BB-BCFA-A212-1854C15EE871}"/>
              </a:ext>
            </a:extLst>
          </p:cNvPr>
          <p:cNvSpPr>
            <a:spLocks noGrp="1"/>
          </p:cNvSpPr>
          <p:nvPr>
            <p:ph idx="1"/>
          </p:nvPr>
        </p:nvSpPr>
        <p:spPr>
          <a:xfrm>
            <a:off x="838200" y="1091381"/>
            <a:ext cx="10515600" cy="5085582"/>
          </a:xfrm>
        </p:spPr>
        <p:txBody>
          <a:bodyPr>
            <a:normAutofit/>
          </a:bodyPr>
          <a:lstStyle/>
          <a:p>
            <a:pPr marL="0" indent="0" algn="just">
              <a:buNone/>
            </a:pPr>
            <a:r>
              <a:rPr lang="en-US" sz="1800" dirty="0">
                <a:solidFill>
                  <a:srgbClr val="EBF5FA"/>
                </a:solidFill>
                <a:latin typeface="Arial" panose="020B0604020202020204" pitchFamily="34" charset="0"/>
                <a:cs typeface="Arial" panose="020B0604020202020204" pitchFamily="34" charset="0"/>
              </a:rPr>
              <a:t>Cyberattacks are increasing and affecting organizations across different countries. Different attack types can cause financial loss and affect a large number of users. Some attacks also require more time to recover. Understanding attack patterns can help organizations improve their security. This project uses Power BI to analyze global cybersecurity threat data.</a:t>
            </a:r>
          </a:p>
          <a:p>
            <a:pPr marL="0" indent="0">
              <a:buNone/>
            </a:pPr>
            <a:r>
              <a:rPr lang="en-US" sz="1800" b="1" dirty="0">
                <a:solidFill>
                  <a:srgbClr val="EBF5FA"/>
                </a:solidFill>
                <a:latin typeface="Arial" panose="020B0604020202020204" pitchFamily="34" charset="0"/>
                <a:cs typeface="Arial" panose="020B0604020202020204" pitchFamily="34" charset="0"/>
              </a:rPr>
              <a:t>Main Focus</a:t>
            </a:r>
          </a:p>
          <a:p>
            <a:pPr lvl="1"/>
            <a:r>
              <a:rPr lang="en-US" sz="1800" dirty="0">
                <a:solidFill>
                  <a:srgbClr val="EBF5FA"/>
                </a:solidFill>
                <a:latin typeface="Arial" panose="020B0604020202020204" pitchFamily="34" charset="0"/>
                <a:cs typeface="Arial" panose="020B0604020202020204" pitchFamily="34" charset="0"/>
              </a:rPr>
              <a:t>Attack trends</a:t>
            </a:r>
          </a:p>
          <a:p>
            <a:pPr lvl="1"/>
            <a:r>
              <a:rPr lang="en-US" sz="1800" dirty="0">
                <a:solidFill>
                  <a:srgbClr val="EBF5FA"/>
                </a:solidFill>
                <a:latin typeface="Arial" panose="020B0604020202020204" pitchFamily="34" charset="0"/>
                <a:cs typeface="Arial" panose="020B0604020202020204" pitchFamily="34" charset="0"/>
              </a:rPr>
              <a:t>Financial losses</a:t>
            </a:r>
          </a:p>
          <a:p>
            <a:pPr lvl="1"/>
            <a:r>
              <a:rPr lang="en-US" sz="1800" dirty="0">
                <a:solidFill>
                  <a:srgbClr val="EBF5FA"/>
                </a:solidFill>
                <a:latin typeface="Arial" panose="020B0604020202020204" pitchFamily="34" charset="0"/>
                <a:cs typeface="Arial" panose="020B0604020202020204" pitchFamily="34" charset="0"/>
              </a:rPr>
              <a:t>Affected users</a:t>
            </a:r>
          </a:p>
          <a:p>
            <a:pPr lvl="1"/>
            <a:r>
              <a:rPr lang="en-US" sz="1800" dirty="0">
                <a:solidFill>
                  <a:srgbClr val="EBF5FA"/>
                </a:solidFill>
                <a:latin typeface="Arial" panose="020B0604020202020204" pitchFamily="34" charset="0"/>
                <a:cs typeface="Arial" panose="020B0604020202020204" pitchFamily="34" charset="0"/>
              </a:rPr>
              <a:t>Recovery time</a:t>
            </a:r>
          </a:p>
          <a:p>
            <a:pPr lvl="1"/>
            <a:r>
              <a:rPr lang="en-US" sz="1800" dirty="0">
                <a:solidFill>
                  <a:srgbClr val="EBF5FA"/>
                </a:solidFill>
                <a:latin typeface="Arial" panose="020B0604020202020204" pitchFamily="34" charset="0"/>
                <a:cs typeface="Arial" panose="020B0604020202020204" pitchFamily="34" charset="0"/>
              </a:rPr>
              <a:t>Industries and countries</a:t>
            </a:r>
          </a:p>
          <a:p>
            <a:pPr lvl="1"/>
            <a:r>
              <a:rPr lang="en-US" sz="1800" dirty="0" err="1">
                <a:solidFill>
                  <a:srgbClr val="EBF5FA"/>
                </a:solidFill>
                <a:latin typeface="Arial" panose="020B0604020202020204" pitchFamily="34" charset="0"/>
                <a:cs typeface="Arial" panose="020B0604020202020204" pitchFamily="34" charset="0"/>
              </a:rPr>
              <a:t>Defence</a:t>
            </a:r>
            <a:r>
              <a:rPr lang="en-US" sz="1800" dirty="0">
                <a:solidFill>
                  <a:srgbClr val="EBF5FA"/>
                </a:solidFill>
                <a:latin typeface="Arial" panose="020B0604020202020204" pitchFamily="34" charset="0"/>
                <a:cs typeface="Arial" panose="020B0604020202020204" pitchFamily="34" charset="0"/>
              </a:rPr>
              <a:t> methods</a:t>
            </a:r>
            <a:endParaRPr lang="en-IN" sz="1800" dirty="0">
              <a:latin typeface="Arial" panose="020B0604020202020204" pitchFamily="34" charset="0"/>
              <a:cs typeface="Arial" panose="020B0604020202020204" pitchFamily="34" charset="0"/>
            </a:endParaRPr>
          </a:p>
        </p:txBody>
      </p:sp>
      <p:sp>
        <p:nvSpPr>
          <p:cNvPr id="4" name="Rectangle 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66601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57CC1-8CFA-0149-CC68-368BDD6BC877}"/>
              </a:ext>
            </a:extLst>
          </p:cNvPr>
          <p:cNvSpPr>
            <a:spLocks noGrp="1"/>
          </p:cNvSpPr>
          <p:nvPr>
            <p:ph type="title"/>
          </p:nvPr>
        </p:nvSpPr>
        <p:spPr>
          <a:xfrm>
            <a:off x="838200" y="365125"/>
            <a:ext cx="10515600" cy="549275"/>
          </a:xfrm>
        </p:spPr>
        <p:txBody>
          <a:bodyPr>
            <a:noAutofit/>
          </a:bodyPr>
          <a:lstStyle/>
          <a:p>
            <a:r>
              <a:rPr lang="en-US" sz="3200" b="1" dirty="0">
                <a:solidFill>
                  <a:srgbClr val="EBF5FA"/>
                </a:solidFill>
                <a:latin typeface="Arial" panose="020B0604020202020204" pitchFamily="34" charset="0"/>
                <a:cs typeface="Arial" panose="020B0604020202020204" pitchFamily="34" charset="0"/>
              </a:rPr>
              <a:t>Data Cleaning</a:t>
            </a:r>
            <a:endParaRPr lang="en-IN" sz="3200" b="1" dirty="0">
              <a:solidFill>
                <a:schemeClr val="tx1"/>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D10F70E6-0075-594D-1D5C-6F61671A426D}"/>
              </a:ext>
            </a:extLst>
          </p:cNvPr>
          <p:cNvSpPr>
            <a:spLocks noGrp="1"/>
          </p:cNvSpPr>
          <p:nvPr>
            <p:ph idx="1"/>
          </p:nvPr>
        </p:nvSpPr>
        <p:spPr>
          <a:xfrm>
            <a:off x="838200" y="914400"/>
            <a:ext cx="10515600" cy="5262563"/>
          </a:xfrm>
        </p:spPr>
        <p:txBody>
          <a:bodyPr>
            <a:normAutofit/>
          </a:bodyPr>
          <a:lstStyle/>
          <a:p>
            <a:pPr marL="0" indent="0">
              <a:buNone/>
            </a:pPr>
            <a:r>
              <a:rPr lang="en-US" sz="2000" b="1" dirty="0">
                <a:solidFill>
                  <a:srgbClr val="EBF5FA"/>
                </a:solidFill>
                <a:latin typeface="Arial" panose="020B0604020202020204" pitchFamily="34" charset="0"/>
                <a:cs typeface="Arial" panose="020B0604020202020204" pitchFamily="34" charset="0"/>
              </a:rPr>
              <a:t>Tools:</a:t>
            </a:r>
            <a:endParaRPr lang="en-US" sz="2000" dirty="0">
              <a:latin typeface="Arial" panose="020B0604020202020204" pitchFamily="34" charset="0"/>
              <a:cs typeface="Arial" panose="020B0604020202020204" pitchFamily="34" charset="0"/>
            </a:endParaRPr>
          </a:p>
          <a:p>
            <a:r>
              <a:rPr lang="en-US" sz="1800" dirty="0">
                <a:solidFill>
                  <a:srgbClr val="EBF5FA"/>
                </a:solidFill>
                <a:latin typeface="Arial" panose="020B0604020202020204" pitchFamily="34" charset="0"/>
                <a:cs typeface="Arial" panose="020B0604020202020204" pitchFamily="34" charset="0"/>
              </a:rPr>
              <a:t>Power bi - data modelling, analysis and dashboard visualization.</a:t>
            </a:r>
          </a:p>
          <a:p>
            <a:r>
              <a:rPr lang="en-US" sz="1800" dirty="0">
                <a:solidFill>
                  <a:srgbClr val="EBF5FA"/>
                </a:solidFill>
                <a:latin typeface="Arial" panose="020B0604020202020204" pitchFamily="34" charset="0"/>
                <a:cs typeface="Arial" panose="020B0604020202020204" pitchFamily="34" charset="0"/>
              </a:rPr>
              <a:t>Power Query – data cleaning and transformation;</a:t>
            </a:r>
          </a:p>
          <a:p>
            <a:r>
              <a:rPr lang="en-US" sz="1800" dirty="0">
                <a:solidFill>
                  <a:srgbClr val="EBF5FA"/>
                </a:solidFill>
                <a:latin typeface="Arial" panose="020B0604020202020204" pitchFamily="34" charset="0"/>
                <a:cs typeface="Arial" panose="020B0604020202020204" pitchFamily="34" charset="0"/>
              </a:rPr>
              <a:t> MySQL – data storage and querying</a:t>
            </a:r>
          </a:p>
          <a:p>
            <a:pPr marL="0" indent="0">
              <a:buNone/>
            </a:pPr>
            <a:r>
              <a:rPr lang="en-US" sz="2000" b="1" dirty="0">
                <a:solidFill>
                  <a:srgbClr val="EBF5FA"/>
                </a:solidFill>
                <a:latin typeface="Arial" panose="020B0604020202020204" pitchFamily="34" charset="0"/>
                <a:cs typeface="Arial" panose="020B0604020202020204" pitchFamily="34" charset="0"/>
              </a:rPr>
              <a:t>Data Cleaning:</a:t>
            </a:r>
          </a:p>
          <a:p>
            <a:r>
              <a:rPr lang="en-US" sz="2000" dirty="0">
                <a:solidFill>
                  <a:srgbClr val="EBF5FA"/>
                </a:solidFill>
                <a:latin typeface="Arial" panose="020B0604020202020204" pitchFamily="34" charset="0"/>
                <a:cs typeface="Arial" panose="020B0604020202020204" pitchFamily="34" charset="0"/>
              </a:rPr>
              <a:t>Load data into Power Query.</a:t>
            </a:r>
          </a:p>
          <a:p>
            <a:r>
              <a:rPr lang="en-US" sz="2000" dirty="0">
                <a:solidFill>
                  <a:srgbClr val="EBF5FA"/>
                </a:solidFill>
                <a:latin typeface="Arial" panose="020B0604020202020204" pitchFamily="34" charset="0"/>
                <a:cs typeface="Arial" panose="020B0604020202020204" pitchFamily="34" charset="0"/>
              </a:rPr>
              <a:t>Add required columns. </a:t>
            </a:r>
          </a:p>
          <a:p>
            <a:r>
              <a:rPr lang="en-US" sz="2000" dirty="0">
                <a:solidFill>
                  <a:srgbClr val="EBF5FA"/>
                </a:solidFill>
                <a:latin typeface="Arial" panose="020B0604020202020204" pitchFamily="34" charset="0"/>
                <a:cs typeface="Arial" panose="020B0604020202020204" pitchFamily="34" charset="0"/>
              </a:rPr>
              <a:t>Create dimension tables from the fact table.</a:t>
            </a:r>
          </a:p>
          <a:p>
            <a:r>
              <a:rPr lang="en-US" sz="2000" dirty="0">
                <a:solidFill>
                  <a:srgbClr val="EBF5FA"/>
                </a:solidFill>
                <a:latin typeface="Arial" panose="020B0604020202020204" pitchFamily="34" charset="0"/>
                <a:cs typeface="Arial" panose="020B0604020202020204" pitchFamily="34" charset="0"/>
              </a:rPr>
              <a:t>Model the tables using relationships.</a:t>
            </a:r>
          </a:p>
          <a:p>
            <a:r>
              <a:rPr lang="en-US" sz="2000" dirty="0">
                <a:solidFill>
                  <a:srgbClr val="EBF5FA"/>
                </a:solidFill>
                <a:latin typeface="Arial" panose="020B0604020202020204" pitchFamily="34" charset="0"/>
                <a:cs typeface="Arial" panose="020B0604020202020204" pitchFamily="34" charset="0"/>
              </a:rPr>
              <a:t>Prepare the data for Power BI analysis.</a:t>
            </a:r>
          </a:p>
        </p:txBody>
      </p:sp>
      <p:sp>
        <p:nvSpPr>
          <p:cNvPr id="4" name="Rectangle 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90703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3E044-84CD-0926-EAEE-D8B3558B1E4F}"/>
              </a:ext>
            </a:extLst>
          </p:cNvPr>
          <p:cNvSpPr>
            <a:spLocks noGrp="1"/>
          </p:cNvSpPr>
          <p:nvPr>
            <p:ph type="title"/>
          </p:nvPr>
        </p:nvSpPr>
        <p:spPr>
          <a:xfrm>
            <a:off x="956187" y="414285"/>
            <a:ext cx="10515600" cy="460785"/>
          </a:xfrm>
        </p:spPr>
        <p:txBody>
          <a:bodyPr>
            <a:noAutofit/>
          </a:bodyPr>
          <a:lstStyle/>
          <a:p>
            <a:r>
              <a:rPr lang="en-US" sz="3200" b="1" dirty="0">
                <a:solidFill>
                  <a:srgbClr val="EBF5FA"/>
                </a:solidFill>
                <a:latin typeface="Arial" panose="020B0604020202020204" pitchFamily="34" charset="0"/>
                <a:cs typeface="Arial" panose="020B0604020202020204" pitchFamily="34" charset="0"/>
              </a:rPr>
              <a:t>Problem Statement &amp; Objectives</a:t>
            </a:r>
            <a:endParaRPr lang="en-IN" sz="3200" b="1" dirty="0">
              <a:solidFill>
                <a:schemeClr val="tx1"/>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D76736DB-0B9A-A2A6-3A69-0885B8ED6824}"/>
              </a:ext>
            </a:extLst>
          </p:cNvPr>
          <p:cNvSpPr>
            <a:spLocks noGrp="1"/>
          </p:cNvSpPr>
          <p:nvPr>
            <p:ph idx="1"/>
          </p:nvPr>
        </p:nvSpPr>
        <p:spPr>
          <a:xfrm>
            <a:off x="956187" y="1052052"/>
            <a:ext cx="10515600" cy="4351338"/>
          </a:xfrm>
        </p:spPr>
        <p:txBody>
          <a:bodyPr>
            <a:noAutofit/>
          </a:bodyPr>
          <a:lstStyle/>
          <a:p>
            <a:pPr marL="0" indent="0">
              <a:buNone/>
            </a:pPr>
            <a:r>
              <a:rPr lang="en-US" sz="1800" b="1" dirty="0">
                <a:solidFill>
                  <a:srgbClr val="EBF5FA"/>
                </a:solidFill>
                <a:latin typeface="Arial" panose="020B0604020202020204" pitchFamily="34" charset="0"/>
                <a:cs typeface="Arial" panose="020B0604020202020204" pitchFamily="34" charset="0"/>
              </a:rPr>
              <a:t>Problem Statement</a:t>
            </a:r>
          </a:p>
          <a:p>
            <a:pPr marL="0" indent="0">
              <a:buNone/>
            </a:pPr>
            <a:r>
              <a:rPr lang="en-US" sz="1800" dirty="0">
                <a:solidFill>
                  <a:srgbClr val="EBF5FA"/>
                </a:solidFill>
                <a:latin typeface="Arial" panose="020B0604020202020204" pitchFamily="34" charset="0"/>
                <a:cs typeface="Arial" panose="020B0604020202020204" pitchFamily="34" charset="0"/>
              </a:rPr>
              <a:t>The main aim is to identify cyberattacks with long recovery times, strengthen </a:t>
            </a:r>
            <a:r>
              <a:rPr lang="en-US" sz="1800" dirty="0" err="1">
                <a:solidFill>
                  <a:srgbClr val="EBF5FA"/>
                </a:solidFill>
                <a:latin typeface="Arial" panose="020B0604020202020204" pitchFamily="34" charset="0"/>
                <a:cs typeface="Arial" panose="020B0604020202020204" pitchFamily="34" charset="0"/>
              </a:rPr>
              <a:t>defences</a:t>
            </a:r>
            <a:r>
              <a:rPr lang="en-US" sz="1800" dirty="0">
                <a:solidFill>
                  <a:srgbClr val="EBF5FA"/>
                </a:solidFill>
                <a:latin typeface="Arial" panose="020B0604020202020204" pitchFamily="34" charset="0"/>
                <a:cs typeface="Arial" panose="020B0604020202020204" pitchFamily="34" charset="0"/>
              </a:rPr>
              <a:t> to reduce attack frequency, and minimize financial losses. </a:t>
            </a:r>
          </a:p>
          <a:p>
            <a:pPr marL="0" indent="0">
              <a:buNone/>
            </a:pPr>
            <a:r>
              <a:rPr lang="en-US" sz="1800" b="1" dirty="0">
                <a:solidFill>
                  <a:srgbClr val="EBF5FA"/>
                </a:solidFill>
                <a:latin typeface="Arial" panose="020B0604020202020204" pitchFamily="34" charset="0"/>
                <a:cs typeface="Arial" panose="020B0604020202020204" pitchFamily="34" charset="0"/>
              </a:rPr>
              <a:t>Objectives</a:t>
            </a:r>
          </a:p>
          <a:p>
            <a:pPr lvl="1"/>
            <a:r>
              <a:rPr lang="en-US" sz="1800" dirty="0">
                <a:solidFill>
                  <a:srgbClr val="EBF5FA"/>
                </a:solidFill>
                <a:latin typeface="Arial" panose="020B0604020202020204" pitchFamily="34" charset="0"/>
                <a:cs typeface="Arial" panose="020B0604020202020204" pitchFamily="34" charset="0"/>
              </a:rPr>
              <a:t>Identify the most common attack types.</a:t>
            </a:r>
          </a:p>
          <a:p>
            <a:pPr lvl="1"/>
            <a:r>
              <a:rPr lang="en-US" sz="1800" dirty="0">
                <a:solidFill>
                  <a:srgbClr val="EBF5FA"/>
                </a:solidFill>
                <a:latin typeface="Arial" panose="020B0604020202020204" pitchFamily="34" charset="0"/>
                <a:cs typeface="Arial" panose="020B0604020202020204" pitchFamily="34" charset="0"/>
              </a:rPr>
              <a:t>Analyze yearly attack and financial-loss trends.</a:t>
            </a:r>
          </a:p>
          <a:p>
            <a:pPr lvl="1"/>
            <a:r>
              <a:rPr lang="en-US" sz="1800" dirty="0">
                <a:solidFill>
                  <a:srgbClr val="EBF5FA"/>
                </a:solidFill>
                <a:latin typeface="Arial" panose="020B0604020202020204" pitchFamily="34" charset="0"/>
                <a:cs typeface="Arial" panose="020B0604020202020204" pitchFamily="34" charset="0"/>
              </a:rPr>
              <a:t>Identify industries with high financial losses.</a:t>
            </a:r>
          </a:p>
          <a:p>
            <a:pPr lvl="1"/>
            <a:r>
              <a:rPr lang="en-US" sz="1800" dirty="0">
                <a:solidFill>
                  <a:srgbClr val="EBF5FA"/>
                </a:solidFill>
                <a:latin typeface="Arial" panose="020B0604020202020204" pitchFamily="34" charset="0"/>
                <a:cs typeface="Arial" panose="020B0604020202020204" pitchFamily="34" charset="0"/>
              </a:rPr>
              <a:t>Analyze countries with high attack impact.</a:t>
            </a:r>
          </a:p>
          <a:p>
            <a:pPr lvl="1"/>
            <a:r>
              <a:rPr lang="en-US" sz="1800" dirty="0">
                <a:solidFill>
                  <a:srgbClr val="EBF5FA"/>
                </a:solidFill>
                <a:latin typeface="Arial" panose="020B0604020202020204" pitchFamily="34" charset="0"/>
                <a:cs typeface="Arial" panose="020B0604020202020204" pitchFamily="34" charset="0"/>
              </a:rPr>
              <a:t>Study affected users.</a:t>
            </a:r>
          </a:p>
          <a:p>
            <a:pPr lvl="1"/>
            <a:r>
              <a:rPr lang="en-US" sz="1800" dirty="0">
                <a:solidFill>
                  <a:srgbClr val="EBF5FA"/>
                </a:solidFill>
                <a:latin typeface="Arial" panose="020B0604020202020204" pitchFamily="34" charset="0"/>
                <a:cs typeface="Arial" panose="020B0604020202020204" pitchFamily="34" charset="0"/>
              </a:rPr>
              <a:t>Compare attack sources and recovery time.</a:t>
            </a:r>
          </a:p>
          <a:p>
            <a:pPr lvl="1"/>
            <a:r>
              <a:rPr lang="en-US" sz="1800" dirty="0">
                <a:solidFill>
                  <a:srgbClr val="EBF5FA"/>
                </a:solidFill>
                <a:latin typeface="Arial" panose="020B0604020202020204" pitchFamily="34" charset="0"/>
                <a:cs typeface="Arial" panose="020B0604020202020204" pitchFamily="34" charset="0"/>
              </a:rPr>
              <a:t>Understand commonly used </a:t>
            </a:r>
            <a:r>
              <a:rPr lang="en-US" sz="1800" dirty="0" err="1">
                <a:solidFill>
                  <a:srgbClr val="EBF5FA"/>
                </a:solidFill>
                <a:latin typeface="Arial" panose="020B0604020202020204" pitchFamily="34" charset="0"/>
                <a:cs typeface="Arial" panose="020B0604020202020204" pitchFamily="34" charset="0"/>
              </a:rPr>
              <a:t>defence</a:t>
            </a:r>
            <a:r>
              <a:rPr lang="en-US" sz="1800" dirty="0">
                <a:solidFill>
                  <a:srgbClr val="EBF5FA"/>
                </a:solidFill>
                <a:latin typeface="Arial" panose="020B0604020202020204" pitchFamily="34" charset="0"/>
                <a:cs typeface="Arial" panose="020B0604020202020204" pitchFamily="34" charset="0"/>
              </a:rPr>
              <a:t> methods.</a:t>
            </a:r>
          </a:p>
          <a:p>
            <a:pPr lvl="1"/>
            <a:r>
              <a:rPr lang="en-US" sz="1800" dirty="0">
                <a:solidFill>
                  <a:srgbClr val="EBF5FA"/>
                </a:solidFill>
                <a:latin typeface="Arial" panose="020B0604020202020204" pitchFamily="34" charset="0"/>
                <a:cs typeface="Arial" panose="020B0604020202020204" pitchFamily="34" charset="0"/>
              </a:rPr>
              <a:t>Identify vulnerabilities frequently exploited by attacks.</a:t>
            </a:r>
            <a:endParaRPr lang="en-IN" sz="1800" dirty="0">
              <a:latin typeface="Arial" panose="020B0604020202020204" pitchFamily="34" charset="0"/>
              <a:cs typeface="Arial" panose="020B0604020202020204" pitchFamily="34" charset="0"/>
            </a:endParaRPr>
          </a:p>
        </p:txBody>
      </p:sp>
      <p:sp>
        <p:nvSpPr>
          <p:cNvPr id="4" name="Rectangle 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1046091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879A4-483A-04F7-E5A4-354278D8A289}"/>
              </a:ext>
            </a:extLst>
          </p:cNvPr>
          <p:cNvSpPr>
            <a:spLocks noGrp="1"/>
          </p:cNvSpPr>
          <p:nvPr>
            <p:ph type="title"/>
          </p:nvPr>
        </p:nvSpPr>
        <p:spPr>
          <a:xfrm>
            <a:off x="838200" y="395902"/>
            <a:ext cx="10515600" cy="315912"/>
          </a:xfrm>
        </p:spPr>
        <p:txBody>
          <a:bodyPr>
            <a:noAutofit/>
          </a:bodyPr>
          <a:lstStyle/>
          <a:p>
            <a:r>
              <a:rPr lang="en-US" sz="3200" b="1" dirty="0">
                <a:solidFill>
                  <a:srgbClr val="EBF5FA"/>
                </a:solidFill>
                <a:latin typeface="Arial" panose="020B0604020202020204" pitchFamily="34" charset="0"/>
                <a:cs typeface="Arial" panose="020B0604020202020204" pitchFamily="34" charset="0"/>
              </a:rPr>
              <a:t>Dataset</a:t>
            </a:r>
            <a:endParaRPr lang="en-IN" sz="3200" b="1" dirty="0">
              <a:solidFill>
                <a:schemeClr val="tx1"/>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363897E5-6903-2888-CD77-497693B49737}"/>
              </a:ext>
            </a:extLst>
          </p:cNvPr>
          <p:cNvSpPr>
            <a:spLocks noGrp="1"/>
          </p:cNvSpPr>
          <p:nvPr>
            <p:ph idx="1"/>
          </p:nvPr>
        </p:nvSpPr>
        <p:spPr>
          <a:xfrm>
            <a:off x="838200" y="996948"/>
            <a:ext cx="10515600" cy="5551335"/>
          </a:xfrm>
        </p:spPr>
        <p:txBody>
          <a:bodyPr numCol="1">
            <a:noAutofit/>
          </a:bodyPr>
          <a:lstStyle/>
          <a:p>
            <a:pPr marL="0" indent="0">
              <a:buNone/>
            </a:pPr>
            <a:r>
              <a:rPr lang="en-US" sz="1900" dirty="0">
                <a:solidFill>
                  <a:srgbClr val="EBF5FA"/>
                </a:solidFill>
                <a:latin typeface="Arial" panose="020B0604020202020204" pitchFamily="34" charset="0"/>
                <a:cs typeface="Arial" panose="020B0604020202020204" pitchFamily="34" charset="0"/>
              </a:rPr>
              <a:t>The project uses a cybersecurity threat dataset containing information related to:</a:t>
            </a:r>
          </a:p>
          <a:p>
            <a:pPr lvl="1"/>
            <a:r>
              <a:rPr lang="en-US" sz="1900" dirty="0">
                <a:solidFill>
                  <a:srgbClr val="EBF5FA"/>
                </a:solidFill>
                <a:latin typeface="Arial" panose="020B0604020202020204" pitchFamily="34" charset="0"/>
                <a:cs typeface="Arial" panose="020B0604020202020204" pitchFamily="34" charset="0"/>
              </a:rPr>
              <a:t>Attack ID</a:t>
            </a:r>
          </a:p>
          <a:p>
            <a:pPr lvl="1"/>
            <a:r>
              <a:rPr lang="en-US" sz="1900" dirty="0">
                <a:solidFill>
                  <a:srgbClr val="EBF5FA"/>
                </a:solidFill>
                <a:latin typeface="Arial" panose="020B0604020202020204" pitchFamily="34" charset="0"/>
                <a:cs typeface="Arial" panose="020B0604020202020204" pitchFamily="34" charset="0"/>
              </a:rPr>
              <a:t>Country</a:t>
            </a:r>
          </a:p>
          <a:p>
            <a:pPr lvl="1"/>
            <a:r>
              <a:rPr lang="en-US" sz="1900" dirty="0">
                <a:solidFill>
                  <a:srgbClr val="EBF5FA"/>
                </a:solidFill>
                <a:latin typeface="Arial" panose="020B0604020202020204" pitchFamily="34" charset="0"/>
                <a:cs typeface="Arial" panose="020B0604020202020204" pitchFamily="34" charset="0"/>
              </a:rPr>
              <a:t>Year</a:t>
            </a:r>
          </a:p>
          <a:p>
            <a:pPr lvl="1"/>
            <a:r>
              <a:rPr lang="en-US" sz="1900" dirty="0">
                <a:solidFill>
                  <a:srgbClr val="EBF5FA"/>
                </a:solidFill>
                <a:latin typeface="Arial" panose="020B0604020202020204" pitchFamily="34" charset="0"/>
                <a:cs typeface="Arial" panose="020B0604020202020204" pitchFamily="34" charset="0"/>
              </a:rPr>
              <a:t>Attack Type</a:t>
            </a:r>
          </a:p>
          <a:p>
            <a:pPr lvl="1"/>
            <a:r>
              <a:rPr lang="en-US" sz="1900" dirty="0">
                <a:solidFill>
                  <a:srgbClr val="EBF5FA"/>
                </a:solidFill>
                <a:latin typeface="Arial" panose="020B0604020202020204" pitchFamily="34" charset="0"/>
                <a:cs typeface="Arial" panose="020B0604020202020204" pitchFamily="34" charset="0"/>
              </a:rPr>
              <a:t>Target Industry</a:t>
            </a:r>
          </a:p>
          <a:p>
            <a:pPr lvl="1"/>
            <a:r>
              <a:rPr lang="en-US" sz="1900" dirty="0">
                <a:solidFill>
                  <a:srgbClr val="EBF5FA"/>
                </a:solidFill>
                <a:latin typeface="Arial" panose="020B0604020202020204" pitchFamily="34" charset="0"/>
                <a:cs typeface="Arial" panose="020B0604020202020204" pitchFamily="34" charset="0"/>
              </a:rPr>
              <a:t>Attack Source</a:t>
            </a:r>
          </a:p>
          <a:p>
            <a:pPr lvl="1"/>
            <a:r>
              <a:rPr lang="en-US" sz="1900" dirty="0">
                <a:solidFill>
                  <a:srgbClr val="EBF5FA"/>
                </a:solidFill>
                <a:latin typeface="Arial" panose="020B0604020202020204" pitchFamily="34" charset="0"/>
                <a:cs typeface="Arial" panose="020B0604020202020204" pitchFamily="34" charset="0"/>
              </a:rPr>
              <a:t>Financial Loss</a:t>
            </a:r>
          </a:p>
          <a:p>
            <a:pPr lvl="1"/>
            <a:r>
              <a:rPr lang="en-US" sz="1900" dirty="0">
                <a:solidFill>
                  <a:srgbClr val="EBF5FA"/>
                </a:solidFill>
                <a:latin typeface="Arial" panose="020B0604020202020204" pitchFamily="34" charset="0"/>
                <a:cs typeface="Arial" panose="020B0604020202020204" pitchFamily="34" charset="0"/>
              </a:rPr>
              <a:t>Affected Users</a:t>
            </a:r>
          </a:p>
          <a:p>
            <a:pPr lvl="1"/>
            <a:r>
              <a:rPr lang="en-US" sz="1900" dirty="0">
                <a:solidFill>
                  <a:srgbClr val="EBF5FA"/>
                </a:solidFill>
                <a:latin typeface="Arial" panose="020B0604020202020204" pitchFamily="34" charset="0"/>
                <a:cs typeface="Arial" panose="020B0604020202020204" pitchFamily="34" charset="0"/>
              </a:rPr>
              <a:t>Recovery Time</a:t>
            </a:r>
          </a:p>
          <a:p>
            <a:pPr lvl="1"/>
            <a:r>
              <a:rPr lang="en-US" sz="1900" dirty="0">
                <a:solidFill>
                  <a:srgbClr val="EBF5FA"/>
                </a:solidFill>
                <a:latin typeface="Arial" panose="020B0604020202020204" pitchFamily="34" charset="0"/>
                <a:cs typeface="Arial" panose="020B0604020202020204" pitchFamily="34" charset="0"/>
              </a:rPr>
              <a:t>Security Vulnerability Type</a:t>
            </a:r>
          </a:p>
          <a:p>
            <a:pPr lvl="1"/>
            <a:r>
              <a:rPr lang="en-US" sz="1900" dirty="0" err="1">
                <a:solidFill>
                  <a:srgbClr val="EBF5FA"/>
                </a:solidFill>
                <a:latin typeface="Arial" panose="020B0604020202020204" pitchFamily="34" charset="0"/>
                <a:cs typeface="Arial" panose="020B0604020202020204" pitchFamily="34" charset="0"/>
              </a:rPr>
              <a:t>Defence</a:t>
            </a:r>
            <a:r>
              <a:rPr lang="en-US" sz="1900" dirty="0">
                <a:solidFill>
                  <a:srgbClr val="EBF5FA"/>
                </a:solidFill>
                <a:latin typeface="Arial" panose="020B0604020202020204" pitchFamily="34" charset="0"/>
                <a:cs typeface="Arial" panose="020B0604020202020204" pitchFamily="34" charset="0"/>
              </a:rPr>
              <a:t> Mechanism</a:t>
            </a:r>
          </a:p>
          <a:p>
            <a:pPr marL="0" indent="0">
              <a:buNone/>
            </a:pPr>
            <a:r>
              <a:rPr lang="en-US" sz="1900" dirty="0">
                <a:solidFill>
                  <a:srgbClr val="EBF5FA"/>
                </a:solidFill>
                <a:latin typeface="Arial" panose="020B0604020202020204" pitchFamily="34" charset="0"/>
                <a:cs typeface="Arial" panose="020B0604020202020204" pitchFamily="34" charset="0"/>
              </a:rPr>
              <a:t>.</a:t>
            </a:r>
            <a:endParaRPr lang="en-IN" sz="1900" dirty="0">
              <a:latin typeface="Arial" panose="020B0604020202020204" pitchFamily="34" charset="0"/>
              <a:cs typeface="Arial" panose="020B0604020202020204" pitchFamily="34" charset="0"/>
            </a:endParaRPr>
          </a:p>
        </p:txBody>
      </p:sp>
      <p:sp>
        <p:nvSpPr>
          <p:cNvPr id="4" name="Rectangle 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271789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2B527B-309D-75BB-6C49-1382D8E0D8F2}"/>
              </a:ext>
            </a:extLst>
          </p:cNvPr>
          <p:cNvSpPr>
            <a:spLocks noGrp="1"/>
          </p:cNvSpPr>
          <p:nvPr>
            <p:ph type="title"/>
          </p:nvPr>
        </p:nvSpPr>
        <p:spPr>
          <a:xfrm>
            <a:off x="838200" y="473280"/>
            <a:ext cx="10515600" cy="431288"/>
          </a:xfrm>
        </p:spPr>
        <p:txBody>
          <a:bodyPr>
            <a:noAutofit/>
          </a:bodyPr>
          <a:lstStyle/>
          <a:p>
            <a:r>
              <a:rPr lang="en-US" sz="3200" b="1" dirty="0">
                <a:solidFill>
                  <a:srgbClr val="EBF5FA"/>
                </a:solidFill>
                <a:latin typeface="Arial" panose="020B0604020202020204" pitchFamily="34" charset="0"/>
                <a:cs typeface="Arial" panose="020B0604020202020204" pitchFamily="34" charset="0"/>
              </a:rPr>
              <a:t>Star Schema</a:t>
            </a:r>
            <a:endParaRPr lang="en-IN" sz="3200" dirty="0">
              <a:solidFill>
                <a:schemeClr val="tx1"/>
              </a:solidFill>
            </a:endParaRPr>
          </a:p>
        </p:txBody>
      </p:sp>
      <p:sp>
        <p:nvSpPr>
          <p:cNvPr id="3" name="Content Placeholder 2">
            <a:extLst>
              <a:ext uri="{FF2B5EF4-FFF2-40B4-BE49-F238E27FC236}">
                <a16:creationId xmlns:a16="http://schemas.microsoft.com/office/drawing/2014/main" id="{5C52C8D4-90EA-81E5-9583-B7D42091BEAF}"/>
              </a:ext>
            </a:extLst>
          </p:cNvPr>
          <p:cNvSpPr>
            <a:spLocks noGrp="1"/>
          </p:cNvSpPr>
          <p:nvPr>
            <p:ph idx="1"/>
          </p:nvPr>
        </p:nvSpPr>
        <p:spPr>
          <a:xfrm>
            <a:off x="838200" y="1125511"/>
            <a:ext cx="10515600" cy="4351338"/>
          </a:xfrm>
        </p:spPr>
        <p:txBody>
          <a:bodyPr>
            <a:normAutofit/>
          </a:bodyPr>
          <a:lstStyle/>
          <a:p>
            <a:pPr marL="0" indent="0">
              <a:buNone/>
            </a:pPr>
            <a:r>
              <a:rPr lang="en-US" sz="1800" b="1" dirty="0">
                <a:solidFill>
                  <a:srgbClr val="EBF5FA"/>
                </a:solidFill>
                <a:latin typeface="Arial" panose="020B0604020202020204" pitchFamily="34" charset="0"/>
                <a:cs typeface="Arial" panose="020B0604020202020204" pitchFamily="34" charset="0"/>
              </a:rPr>
              <a:t>Fact Table</a:t>
            </a:r>
          </a:p>
          <a:p>
            <a:pPr lvl="1"/>
            <a:r>
              <a:rPr lang="en-US" sz="1800" dirty="0">
                <a:solidFill>
                  <a:srgbClr val="EBF5FA"/>
                </a:solidFill>
                <a:latin typeface="Arial" panose="020B0604020202020204" pitchFamily="34" charset="0"/>
                <a:cs typeface="Arial" panose="020B0604020202020204" pitchFamily="34" charset="0"/>
              </a:rPr>
              <a:t>Attack ID</a:t>
            </a:r>
          </a:p>
          <a:p>
            <a:pPr lvl="1"/>
            <a:r>
              <a:rPr lang="en-US" sz="1800" dirty="0">
                <a:solidFill>
                  <a:srgbClr val="EBF5FA"/>
                </a:solidFill>
                <a:latin typeface="Arial" panose="020B0604020202020204" pitchFamily="34" charset="0"/>
                <a:cs typeface="Arial" panose="020B0604020202020204" pitchFamily="34" charset="0"/>
              </a:rPr>
              <a:t>Country ID</a:t>
            </a:r>
          </a:p>
          <a:p>
            <a:pPr lvl="1"/>
            <a:r>
              <a:rPr lang="en-US" sz="1800" dirty="0">
                <a:solidFill>
                  <a:srgbClr val="EBF5FA"/>
                </a:solidFill>
                <a:latin typeface="Arial" panose="020B0604020202020204" pitchFamily="34" charset="0"/>
                <a:cs typeface="Arial" panose="020B0604020202020204" pitchFamily="34" charset="0"/>
              </a:rPr>
              <a:t>Measures such as financial loss, affected users and recovery time</a:t>
            </a:r>
          </a:p>
          <a:p>
            <a:pPr marL="0" indent="0">
              <a:buNone/>
            </a:pPr>
            <a:r>
              <a:rPr lang="en-US" sz="1800" b="1" dirty="0">
                <a:solidFill>
                  <a:srgbClr val="EBF5FA"/>
                </a:solidFill>
                <a:latin typeface="Arial" panose="020B0604020202020204" pitchFamily="34" charset="0"/>
                <a:cs typeface="Arial" panose="020B0604020202020204" pitchFamily="34" charset="0"/>
              </a:rPr>
              <a:t>Dimension Tables</a:t>
            </a:r>
          </a:p>
          <a:p>
            <a:pPr lvl="1"/>
            <a:r>
              <a:rPr lang="en-US" sz="1800" dirty="0">
                <a:solidFill>
                  <a:srgbClr val="EBF5FA"/>
                </a:solidFill>
                <a:latin typeface="Arial" panose="020B0604020202020204" pitchFamily="34" charset="0"/>
                <a:cs typeface="Arial" panose="020B0604020202020204" pitchFamily="34" charset="0"/>
              </a:rPr>
              <a:t>Country Dimension</a:t>
            </a:r>
          </a:p>
          <a:p>
            <a:pPr lvl="1"/>
            <a:r>
              <a:rPr lang="en-US" sz="1800" dirty="0">
                <a:solidFill>
                  <a:srgbClr val="EBF5FA"/>
                </a:solidFill>
                <a:latin typeface="Arial" panose="020B0604020202020204" pitchFamily="34" charset="0"/>
                <a:cs typeface="Arial" panose="020B0604020202020204" pitchFamily="34" charset="0"/>
              </a:rPr>
              <a:t>Attack Dimension</a:t>
            </a:r>
          </a:p>
          <a:p>
            <a:pPr marL="0" indent="0">
              <a:buNone/>
            </a:pPr>
            <a:r>
              <a:rPr lang="en-US" sz="1800" b="1" dirty="0">
                <a:solidFill>
                  <a:srgbClr val="EBF5FA"/>
                </a:solidFill>
                <a:latin typeface="Arial" panose="020B0604020202020204" pitchFamily="34" charset="0"/>
                <a:cs typeface="Arial" panose="020B0604020202020204" pitchFamily="34" charset="0"/>
              </a:rPr>
              <a:t>Purpose</a:t>
            </a:r>
          </a:p>
          <a:p>
            <a:pPr marL="0" indent="0">
              <a:buNone/>
            </a:pPr>
            <a:r>
              <a:rPr lang="en-US" sz="1800" dirty="0">
                <a:solidFill>
                  <a:srgbClr val="EBF5FA"/>
                </a:solidFill>
                <a:latin typeface="Arial" panose="020B0604020202020204" pitchFamily="34" charset="0"/>
                <a:cs typeface="Arial" panose="020B0604020202020204" pitchFamily="34" charset="0"/>
              </a:rPr>
              <a:t>The star schema makes the data easier to filter, analyze and visualize in Power BI</a:t>
            </a:r>
            <a:endParaRPr lang="en-IN" sz="1800" dirty="0"/>
          </a:p>
        </p:txBody>
      </p:sp>
      <p:sp>
        <p:nvSpPr>
          <p:cNvPr id="4" name="Rectangle 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397298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649F7-C1A1-A973-79F0-0C9FC33B08A0}"/>
              </a:ext>
            </a:extLst>
          </p:cNvPr>
          <p:cNvSpPr>
            <a:spLocks noGrp="1"/>
          </p:cNvSpPr>
          <p:nvPr>
            <p:ph type="title"/>
          </p:nvPr>
        </p:nvSpPr>
        <p:spPr>
          <a:xfrm>
            <a:off x="700549" y="321237"/>
            <a:ext cx="10515600" cy="421456"/>
          </a:xfrm>
        </p:spPr>
        <p:txBody>
          <a:bodyPr>
            <a:noAutofit/>
          </a:bodyPr>
          <a:lstStyle/>
          <a:p>
            <a:r>
              <a:rPr lang="en-US" sz="3200" b="1" dirty="0">
                <a:solidFill>
                  <a:srgbClr val="EBF5FA"/>
                </a:solidFill>
                <a:latin typeface="Arial" panose="020B0604020202020204" pitchFamily="34" charset="0"/>
                <a:cs typeface="Arial" panose="020B0604020202020204" pitchFamily="34" charset="0"/>
              </a:rPr>
              <a:t>Overview analyzes</a:t>
            </a:r>
            <a:endParaRPr lang="en-IN" sz="3200" b="1" dirty="0">
              <a:solidFill>
                <a:schemeClr val="tx1"/>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FA9F005E-CBE4-2696-2B17-8308FB9D14F1}"/>
              </a:ext>
            </a:extLst>
          </p:cNvPr>
          <p:cNvSpPr>
            <a:spLocks noGrp="1"/>
          </p:cNvSpPr>
          <p:nvPr>
            <p:ph idx="1"/>
          </p:nvPr>
        </p:nvSpPr>
        <p:spPr>
          <a:xfrm>
            <a:off x="838200" y="1032387"/>
            <a:ext cx="10515600" cy="5144576"/>
          </a:xfrm>
        </p:spPr>
        <p:txBody>
          <a:bodyPr>
            <a:normAutofit/>
          </a:bodyPr>
          <a:lstStyle/>
          <a:p>
            <a:pPr marL="0" indent="0">
              <a:buNone/>
            </a:pPr>
            <a:r>
              <a:rPr lang="en-US" sz="1800" dirty="0">
                <a:solidFill>
                  <a:srgbClr val="EBF5FA"/>
                </a:solidFill>
                <a:latin typeface="Arial" panose="020B0604020202020204" pitchFamily="34" charset="0"/>
                <a:cs typeface="Arial" panose="020B0604020202020204" pitchFamily="34" charset="0"/>
              </a:rPr>
              <a:t>The dashboard provides a summary of the cybersecurity dataset through KPIs and charts.</a:t>
            </a:r>
          </a:p>
          <a:p>
            <a:pPr marL="0" indent="0">
              <a:lnSpc>
                <a:spcPct val="150000"/>
              </a:lnSpc>
              <a:buNone/>
            </a:pPr>
            <a:r>
              <a:rPr lang="en-US" b="1" dirty="0">
                <a:solidFill>
                  <a:srgbClr val="EBF5FA"/>
                </a:solidFill>
                <a:latin typeface="Arial" panose="020B0604020202020204" pitchFamily="34" charset="0"/>
                <a:cs typeface="Arial" panose="020B0604020202020204" pitchFamily="34" charset="0"/>
              </a:rPr>
              <a:t>Main KPIs</a:t>
            </a:r>
          </a:p>
          <a:p>
            <a:pPr marL="0" indent="0">
              <a:buNone/>
            </a:pPr>
            <a:endParaRPr lang="en-US" sz="1800" b="1" dirty="0">
              <a:latin typeface="Arial" panose="020B0604020202020204" pitchFamily="34" charset="0"/>
              <a:cs typeface="Arial" panose="020B0604020202020204" pitchFamily="34" charset="0"/>
            </a:endParaRPr>
          </a:p>
          <a:p>
            <a:pPr marL="0" indent="0">
              <a:buNone/>
            </a:pPr>
            <a:endParaRPr lang="en-US" sz="1800" b="1" dirty="0">
              <a:latin typeface="Arial" panose="020B0604020202020204" pitchFamily="34" charset="0"/>
              <a:cs typeface="Arial" panose="020B0604020202020204" pitchFamily="34" charset="0"/>
            </a:endParaRPr>
          </a:p>
          <a:p>
            <a:pPr marL="0" indent="0">
              <a:buNone/>
            </a:pPr>
            <a:endParaRPr lang="en-US" sz="1800" b="1" dirty="0">
              <a:latin typeface="Arial" panose="020B0604020202020204" pitchFamily="34" charset="0"/>
              <a:cs typeface="Arial" panose="020B0604020202020204" pitchFamily="34" charset="0"/>
            </a:endParaRPr>
          </a:p>
          <a:p>
            <a:pPr marL="0" indent="0">
              <a:buNone/>
            </a:pPr>
            <a:endParaRPr lang="en-US" sz="1800" b="1" dirty="0">
              <a:latin typeface="Arial" panose="020B0604020202020204" pitchFamily="34" charset="0"/>
              <a:cs typeface="Arial" panose="020B0604020202020204" pitchFamily="34" charset="0"/>
            </a:endParaRPr>
          </a:p>
          <a:p>
            <a:pPr marL="0" indent="0">
              <a:buNone/>
            </a:pPr>
            <a:endParaRPr lang="en-US" sz="1800" b="1" dirty="0">
              <a:latin typeface="Arial" panose="020B0604020202020204" pitchFamily="34" charset="0"/>
              <a:cs typeface="Arial" panose="020B0604020202020204" pitchFamily="34" charset="0"/>
            </a:endParaRPr>
          </a:p>
          <a:p>
            <a:pPr marL="0" indent="0">
              <a:buNone/>
            </a:pPr>
            <a:endParaRPr lang="en-IN" sz="1800" dirty="0">
              <a:latin typeface="Arial" panose="020B0604020202020204" pitchFamily="34" charset="0"/>
              <a:cs typeface="Arial" panose="020B0604020202020204" pitchFamily="34" charset="0"/>
            </a:endParaRPr>
          </a:p>
        </p:txBody>
      </p:sp>
      <p:sp>
        <p:nvSpPr>
          <p:cNvPr id="6" name="Rectangle: Rounded Corners 5">
            <a:extLst>
              <a:ext uri="{FF2B5EF4-FFF2-40B4-BE49-F238E27FC236}">
                <a16:creationId xmlns:a16="http://schemas.microsoft.com/office/drawing/2014/main" id="{0504C10E-2CD6-DBFF-C729-A6246F047C75}"/>
              </a:ext>
            </a:extLst>
          </p:cNvPr>
          <p:cNvSpPr/>
          <p:nvPr/>
        </p:nvSpPr>
        <p:spPr>
          <a:xfrm>
            <a:off x="858798" y="2338200"/>
            <a:ext cx="3069512" cy="963561"/>
          </a:xfrm>
          <a:prstGeom prst="roundRect">
            <a:avLst/>
          </a:prstGeom>
          <a:effectLst>
            <a:glow rad="63500">
              <a:schemeClr val="accent1">
                <a:satMod val="175000"/>
                <a:alpha val="40000"/>
              </a:schemeClr>
            </a:glow>
            <a:outerShdw blurRad="50800" dist="38100" dir="2700000" algn="tl" rotWithShape="0">
              <a:prstClr val="black">
                <a:alpha val="40000"/>
              </a:prstClr>
            </a:outerShdw>
            <a:softEdge rad="12700"/>
          </a:effectLst>
          <a:scene3d>
            <a:camera prst="perspective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EBF5FA"/>
                </a:solidFill>
                <a:latin typeface="Arial" panose="020B0604020202020204" pitchFamily="34" charset="0"/>
                <a:cs typeface="Arial" panose="020B0604020202020204" pitchFamily="34" charset="0"/>
              </a:rPr>
              <a:t>Total Attacks</a:t>
            </a:r>
            <a:endParaRPr lang="en-US" sz="2000" dirty="0">
              <a:latin typeface="Arial" panose="020B0604020202020204" pitchFamily="34" charset="0"/>
              <a:cs typeface="Arial" panose="020B0604020202020204" pitchFamily="34" charset="0"/>
            </a:endParaRPr>
          </a:p>
          <a:p>
            <a:pPr algn="ctr">
              <a:lnSpc>
                <a:spcPct val="150000"/>
              </a:lnSpc>
            </a:pPr>
            <a:r>
              <a:rPr lang="en-IN" sz="2000" dirty="0">
                <a:solidFill>
                  <a:srgbClr val="EBF5FA"/>
                </a:solidFill>
                <a:latin typeface="Arial" panose="020B0604020202020204" pitchFamily="34" charset="0"/>
                <a:cs typeface="Arial" panose="020B0604020202020204" pitchFamily="34" charset="0"/>
              </a:rPr>
              <a:t>100k</a:t>
            </a:r>
          </a:p>
        </p:txBody>
      </p:sp>
      <p:sp>
        <p:nvSpPr>
          <p:cNvPr id="8" name="Rectangle: Rounded Corners 7">
            <a:extLst>
              <a:ext uri="{FF2B5EF4-FFF2-40B4-BE49-F238E27FC236}">
                <a16:creationId xmlns:a16="http://schemas.microsoft.com/office/drawing/2014/main" id="{86428CA4-8DCF-85A1-FCD3-34D9E9D4FFCE}"/>
              </a:ext>
            </a:extLst>
          </p:cNvPr>
          <p:cNvSpPr/>
          <p:nvPr/>
        </p:nvSpPr>
        <p:spPr>
          <a:xfrm>
            <a:off x="6556411" y="3853530"/>
            <a:ext cx="3252335" cy="935941"/>
          </a:xfrm>
          <a:prstGeom prst="roundRect">
            <a:avLst/>
          </a:prstGeom>
          <a:effectLst>
            <a:glow rad="63500">
              <a:schemeClr val="accent1">
                <a:satMod val="175000"/>
                <a:alpha val="40000"/>
              </a:schemeClr>
            </a:glow>
            <a:outerShdw blurRad="50800" dist="38100" dir="2700000" algn="tl" rotWithShape="0">
              <a:prstClr val="black">
                <a:alpha val="40000"/>
              </a:prstClr>
            </a:outerShdw>
            <a:softEdge rad="12700"/>
          </a:effectLst>
          <a:scene3d>
            <a:camera prst="perspective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EBF5FA"/>
                </a:solidFill>
                <a:latin typeface="Arial" panose="020B0604020202020204" pitchFamily="34" charset="0"/>
                <a:cs typeface="Arial" panose="020B0604020202020204" pitchFamily="34" charset="0"/>
              </a:rPr>
              <a:t>Peak Attack Year</a:t>
            </a:r>
          </a:p>
          <a:p>
            <a:pPr algn="ctr">
              <a:lnSpc>
                <a:spcPct val="150000"/>
              </a:lnSpc>
            </a:pPr>
            <a:r>
              <a:rPr lang="en-US" sz="2000" dirty="0">
                <a:solidFill>
                  <a:srgbClr val="EBF5FA"/>
                </a:solidFill>
                <a:latin typeface="Arial" panose="020B0604020202020204" pitchFamily="34" charset="0"/>
                <a:cs typeface="Arial" panose="020B0604020202020204" pitchFamily="34" charset="0"/>
              </a:rPr>
              <a:t>2017</a:t>
            </a:r>
            <a:endParaRPr lang="en-IN" sz="2000" dirty="0">
              <a:latin typeface="Arial" panose="020B0604020202020204" pitchFamily="34" charset="0"/>
              <a:cs typeface="Arial" panose="020B0604020202020204" pitchFamily="34" charset="0"/>
            </a:endParaRPr>
          </a:p>
        </p:txBody>
      </p:sp>
      <p:sp>
        <p:nvSpPr>
          <p:cNvPr id="10" name="Rectangle: Rounded Corners 9">
            <a:extLst>
              <a:ext uri="{FF2B5EF4-FFF2-40B4-BE49-F238E27FC236}">
                <a16:creationId xmlns:a16="http://schemas.microsoft.com/office/drawing/2014/main" id="{B2C6CFCE-0980-87A9-4F2F-46763B2761BF}"/>
              </a:ext>
            </a:extLst>
          </p:cNvPr>
          <p:cNvSpPr/>
          <p:nvPr/>
        </p:nvSpPr>
        <p:spPr>
          <a:xfrm>
            <a:off x="8263691" y="2338200"/>
            <a:ext cx="3252336" cy="935941"/>
          </a:xfrm>
          <a:prstGeom prst="roundRect">
            <a:avLst/>
          </a:prstGeom>
          <a:effectLst>
            <a:glow rad="63500">
              <a:schemeClr val="accent1">
                <a:satMod val="175000"/>
                <a:alpha val="40000"/>
              </a:schemeClr>
            </a:glow>
            <a:outerShdw blurRad="50800" dist="38100" dir="2700000" algn="tl" rotWithShape="0">
              <a:prstClr val="black">
                <a:alpha val="40000"/>
              </a:prstClr>
            </a:outerShdw>
            <a:softEdge rad="12700"/>
          </a:effectLst>
          <a:scene3d>
            <a:camera prst="perspective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EBF5FA"/>
                </a:solidFill>
                <a:latin typeface="Arial" panose="020B0604020202020204" pitchFamily="34" charset="0"/>
                <a:cs typeface="Arial" panose="020B0604020202020204" pitchFamily="34" charset="0"/>
              </a:rPr>
              <a:t>Average Affected Users</a:t>
            </a:r>
          </a:p>
          <a:p>
            <a:pPr algn="ctr">
              <a:lnSpc>
                <a:spcPct val="150000"/>
              </a:lnSpc>
            </a:pPr>
            <a:r>
              <a:rPr lang="en-US" sz="2000" dirty="0">
                <a:solidFill>
                  <a:srgbClr val="EBF5FA"/>
                </a:solidFill>
                <a:latin typeface="Arial" panose="020B0604020202020204" pitchFamily="34" charset="0"/>
                <a:cs typeface="Arial" panose="020B0604020202020204" pitchFamily="34" charset="0"/>
              </a:rPr>
              <a:t>504.67K</a:t>
            </a:r>
            <a:endParaRPr lang="en-IN" sz="2000" dirty="0">
              <a:latin typeface="Arial" panose="020B0604020202020204" pitchFamily="34" charset="0"/>
              <a:cs typeface="Arial" panose="020B0604020202020204" pitchFamily="34" charset="0"/>
            </a:endParaRPr>
          </a:p>
        </p:txBody>
      </p:sp>
      <p:sp>
        <p:nvSpPr>
          <p:cNvPr id="12" name="Rectangle: Rounded Corners 11">
            <a:extLst>
              <a:ext uri="{FF2B5EF4-FFF2-40B4-BE49-F238E27FC236}">
                <a16:creationId xmlns:a16="http://schemas.microsoft.com/office/drawing/2014/main" id="{464E918B-507E-260F-40B6-39471E8EE314}"/>
              </a:ext>
            </a:extLst>
          </p:cNvPr>
          <p:cNvSpPr/>
          <p:nvPr/>
        </p:nvSpPr>
        <p:spPr>
          <a:xfrm>
            <a:off x="2755491" y="3853530"/>
            <a:ext cx="3202858" cy="963561"/>
          </a:xfrm>
          <a:prstGeom prst="roundRect">
            <a:avLst/>
          </a:prstGeom>
          <a:effectLst>
            <a:glow rad="63500">
              <a:schemeClr val="accent1">
                <a:satMod val="175000"/>
                <a:alpha val="40000"/>
              </a:schemeClr>
            </a:glow>
            <a:outerShdw blurRad="50800" dist="38100" dir="2700000" algn="tl" rotWithShape="0">
              <a:prstClr val="black">
                <a:alpha val="40000"/>
              </a:prstClr>
            </a:outerShdw>
            <a:softEdge rad="12700"/>
          </a:effectLst>
          <a:scene3d>
            <a:camera prst="perspective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EBF5FA"/>
                </a:solidFill>
                <a:latin typeface="Arial" panose="020B0604020202020204" pitchFamily="34" charset="0"/>
                <a:cs typeface="Arial" panose="020B0604020202020204" pitchFamily="34" charset="0"/>
              </a:rPr>
              <a:t>Average Recovery Time </a:t>
            </a:r>
            <a:endParaRPr lang="en-IN" sz="2000" b="1" dirty="0">
              <a:latin typeface="Arial" panose="020B0604020202020204" pitchFamily="34" charset="0"/>
              <a:cs typeface="Arial" panose="020B0604020202020204" pitchFamily="34" charset="0"/>
            </a:endParaRPr>
          </a:p>
          <a:p>
            <a:pPr algn="ctr">
              <a:lnSpc>
                <a:spcPct val="150000"/>
              </a:lnSpc>
            </a:pPr>
            <a:r>
              <a:rPr lang="en-US" sz="2000" dirty="0">
                <a:solidFill>
                  <a:srgbClr val="EBF5FA"/>
                </a:solidFill>
                <a:latin typeface="Arial" panose="020B0604020202020204" pitchFamily="34" charset="0"/>
                <a:cs typeface="Arial" panose="020B0604020202020204" pitchFamily="34" charset="0"/>
              </a:rPr>
              <a:t>36.48 hours</a:t>
            </a:r>
            <a:endParaRPr lang="en-IN" sz="2000" dirty="0">
              <a:latin typeface="Arial" panose="020B0604020202020204" pitchFamily="34" charset="0"/>
              <a:cs typeface="Arial" panose="020B0604020202020204" pitchFamily="34" charset="0"/>
            </a:endParaRPr>
          </a:p>
        </p:txBody>
      </p:sp>
      <p:sp>
        <p:nvSpPr>
          <p:cNvPr id="14" name="Rectangle: Rounded Corners 13">
            <a:extLst>
              <a:ext uri="{FF2B5EF4-FFF2-40B4-BE49-F238E27FC236}">
                <a16:creationId xmlns:a16="http://schemas.microsoft.com/office/drawing/2014/main" id="{335114F3-76D8-F9DD-BCB4-EF2211C87EFD}"/>
              </a:ext>
            </a:extLst>
          </p:cNvPr>
          <p:cNvSpPr/>
          <p:nvPr/>
        </p:nvSpPr>
        <p:spPr>
          <a:xfrm>
            <a:off x="4469832" y="2338200"/>
            <a:ext cx="3252336" cy="935941"/>
          </a:xfrm>
          <a:prstGeom prst="roundRect">
            <a:avLst/>
          </a:prstGeom>
          <a:effectLst>
            <a:glow rad="63500">
              <a:schemeClr val="accent1">
                <a:satMod val="175000"/>
                <a:alpha val="40000"/>
              </a:schemeClr>
            </a:glow>
            <a:outerShdw blurRad="50800" dist="38100" dir="2700000" algn="tl" rotWithShape="0">
              <a:prstClr val="black">
                <a:alpha val="40000"/>
              </a:prstClr>
            </a:outerShdw>
            <a:softEdge rad="12700"/>
          </a:effectLst>
          <a:scene3d>
            <a:camera prst="perspective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EBF5FA"/>
                </a:solidFill>
                <a:latin typeface="Arial" panose="020B0604020202020204" pitchFamily="34" charset="0"/>
                <a:cs typeface="Arial" panose="020B0604020202020204" pitchFamily="34" charset="0"/>
              </a:rPr>
              <a:t>Total Financial Loss</a:t>
            </a:r>
          </a:p>
          <a:p>
            <a:pPr algn="ctr">
              <a:lnSpc>
                <a:spcPct val="150000"/>
              </a:lnSpc>
            </a:pPr>
            <a:r>
              <a:rPr lang="en-US" sz="2000" dirty="0">
                <a:solidFill>
                  <a:srgbClr val="EBF5FA"/>
                </a:solidFill>
                <a:latin typeface="Arial" panose="020B0604020202020204" pitchFamily="34" charset="0"/>
                <a:cs typeface="Arial" panose="020B0604020202020204" pitchFamily="34" charset="0"/>
              </a:rPr>
              <a:t>5.05T</a:t>
            </a:r>
            <a:endParaRPr lang="en-IN" sz="2000" dirty="0">
              <a:latin typeface="Arial" panose="020B0604020202020204" pitchFamily="34" charset="0"/>
              <a:cs typeface="Arial" panose="020B0604020202020204" pitchFamily="34" charset="0"/>
            </a:endParaRPr>
          </a:p>
        </p:txBody>
      </p:sp>
      <p:sp>
        <p:nvSpPr>
          <p:cNvPr id="15" name="Rectangle 14"/>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053961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94A4D39-0029-D25C-5B8B-AB159873B0D7}"/>
              </a:ext>
            </a:extLst>
          </p:cNvPr>
          <p:cNvSpPr>
            <a:spLocks noGrp="1"/>
          </p:cNvSpPr>
          <p:nvPr>
            <p:ph type="title"/>
          </p:nvPr>
        </p:nvSpPr>
        <p:spPr>
          <a:xfrm>
            <a:off x="216310" y="408040"/>
            <a:ext cx="9834524" cy="511277"/>
          </a:xfrm>
        </p:spPr>
        <p:txBody>
          <a:bodyPr>
            <a:noAutofit/>
          </a:bodyPr>
          <a:lstStyle/>
          <a:p>
            <a:r>
              <a:rPr lang="en-US" sz="2500" b="1" dirty="0">
                <a:solidFill>
                  <a:srgbClr val="EBF5FA"/>
                </a:solidFill>
                <a:latin typeface="Arial" panose="020B0604020202020204" pitchFamily="34" charset="0"/>
                <a:cs typeface="Arial" panose="020B0604020202020204" pitchFamily="34" charset="0"/>
              </a:rPr>
              <a:t>Yearly Financial Loss</a:t>
            </a:r>
            <a:endParaRPr lang="en-IN" sz="2500" dirty="0">
              <a:solidFill>
                <a:schemeClr val="tx1"/>
              </a:solidFill>
            </a:endParaRPr>
          </a:p>
        </p:txBody>
      </p:sp>
      <p:sp>
        <p:nvSpPr>
          <p:cNvPr id="3" name="Content Placeholder 2">
            <a:extLst>
              <a:ext uri="{FF2B5EF4-FFF2-40B4-BE49-F238E27FC236}">
                <a16:creationId xmlns:a16="http://schemas.microsoft.com/office/drawing/2014/main" id="{A4805A61-E722-4A77-1D45-3CE9F3F07633}"/>
              </a:ext>
            </a:extLst>
          </p:cNvPr>
          <p:cNvSpPr>
            <a:spLocks noGrp="1"/>
          </p:cNvSpPr>
          <p:nvPr>
            <p:ph idx="1"/>
          </p:nvPr>
        </p:nvSpPr>
        <p:spPr>
          <a:xfrm>
            <a:off x="216310" y="993057"/>
            <a:ext cx="6361471" cy="5456903"/>
          </a:xfrm>
        </p:spPr>
        <p:txBody>
          <a:bodyPr>
            <a:normAutofit/>
          </a:bodyPr>
          <a:lstStyle/>
          <a:p>
            <a:pPr>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X-Axis :      </a:t>
            </a:r>
          </a:p>
          <a:p>
            <a:pPr lvl="2">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Years (2016 → 2024).</a:t>
            </a:r>
          </a:p>
          <a:p>
            <a:pPr lvl="2">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tick mark corresponds to a specific year.</a:t>
            </a:r>
          </a:p>
          <a:p>
            <a:pPr>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Y-Axis :</a:t>
            </a:r>
          </a:p>
          <a:p>
            <a:pPr lvl="2">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Financial Loss (in thousands, K).</a:t>
            </a:r>
          </a:p>
          <a:p>
            <a:pPr lvl="2">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scale ranges from 420K to 560K.</a:t>
            </a:r>
          </a:p>
          <a:p>
            <a:pPr>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The line shows fluctuations in yearly losses, with a sharp peak in 2017, a dip in 2020, and then a stable but slightly declining trend toward 2024.</a:t>
            </a:r>
            <a:r>
              <a:rPr lang="en-US" sz="1800" dirty="0">
                <a:solidFill>
                  <a:srgbClr val="EBF5FA"/>
                </a:solidFill>
                <a:latin typeface="Arial" panose="020B0604020202020204" pitchFamily="34" charset="0"/>
                <a:cs typeface="Arial" panose="020B0604020202020204" pitchFamily="34" charset="0"/>
              </a:rPr>
              <a:t>.</a:t>
            </a:r>
          </a:p>
          <a:p>
            <a:pPr marL="0" indent="0">
              <a:buNone/>
            </a:pPr>
            <a:endParaRPr lang="en-US" sz="1800" b="1"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14C2D930-990E-E051-E527-8D3B54D35433}"/>
              </a:ext>
            </a:extLst>
          </p:cNvPr>
          <p:cNvPicPr>
            <a:picLocks noChangeAspect="1"/>
          </p:cNvPicPr>
          <p:nvPr/>
        </p:nvPicPr>
        <p:blipFill>
          <a:blip r:embed="rId2"/>
          <a:stretch>
            <a:fillRect/>
          </a:stretch>
        </p:blipFill>
        <p:spPr>
          <a:xfrm>
            <a:off x="6843252" y="2136057"/>
            <a:ext cx="5034116" cy="3578942"/>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3620792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71CA6-AB8F-BDB8-231D-F917DBF764F4}"/>
              </a:ext>
            </a:extLst>
          </p:cNvPr>
          <p:cNvSpPr>
            <a:spLocks noGrp="1"/>
          </p:cNvSpPr>
          <p:nvPr>
            <p:ph type="title"/>
          </p:nvPr>
        </p:nvSpPr>
        <p:spPr>
          <a:xfrm>
            <a:off x="646111" y="452718"/>
            <a:ext cx="9404723" cy="638663"/>
          </a:xfrm>
        </p:spPr>
        <p:txBody>
          <a:bodyPr>
            <a:normAutofit fontScale="90000"/>
          </a:bodyPr>
          <a:lstStyle/>
          <a:p>
            <a:r>
              <a:rPr lang="en-US" sz="2800" b="1" dirty="0">
                <a:solidFill>
                  <a:srgbClr val="EBF5FA"/>
                </a:solidFill>
                <a:latin typeface="Arial" panose="020B0604020202020204" pitchFamily="34" charset="0"/>
                <a:cs typeface="Arial" panose="020B0604020202020204" pitchFamily="34" charset="0"/>
              </a:rPr>
              <a:t>Affected Users by Year</a:t>
            </a:r>
            <a:br>
              <a:rPr lang="en-US" sz="4400" b="1" dirty="0">
                <a:solidFill>
                  <a:schemeClr val="tx1"/>
                </a:solidFill>
                <a:latin typeface="Arial" panose="020B0604020202020204" pitchFamily="34" charset="0"/>
                <a:cs typeface="Arial" panose="020B0604020202020204" pitchFamily="34" charset="0"/>
              </a:rPr>
            </a:br>
            <a:endParaRPr lang="en-IN" dirty="0">
              <a:solidFill>
                <a:schemeClr val="tx1"/>
              </a:solidFill>
            </a:endParaRPr>
          </a:p>
        </p:txBody>
      </p:sp>
      <p:sp>
        <p:nvSpPr>
          <p:cNvPr id="3" name="Content Placeholder 2">
            <a:extLst>
              <a:ext uri="{FF2B5EF4-FFF2-40B4-BE49-F238E27FC236}">
                <a16:creationId xmlns:a16="http://schemas.microsoft.com/office/drawing/2014/main" id="{F45EEA15-77A6-8579-6447-641997A6717E}"/>
              </a:ext>
            </a:extLst>
          </p:cNvPr>
          <p:cNvSpPr>
            <a:spLocks noGrp="1"/>
          </p:cNvSpPr>
          <p:nvPr>
            <p:ph idx="1"/>
          </p:nvPr>
        </p:nvSpPr>
        <p:spPr>
          <a:xfrm>
            <a:off x="646111" y="1091381"/>
            <a:ext cx="5568857" cy="5178274"/>
          </a:xfrm>
        </p:spPr>
        <p:txBody>
          <a:bodyPr>
            <a:normAutofit/>
          </a:bodyPr>
          <a:lstStyle/>
          <a:p>
            <a:pPr>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X-Axis :</a:t>
            </a:r>
          </a:p>
          <a:p>
            <a:pPr lvl="1">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Represents Years (2016 → 2024).</a:t>
            </a:r>
          </a:p>
          <a:p>
            <a:pPr lvl="1">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Each tick mark corresponds to a specific year.</a:t>
            </a:r>
          </a:p>
          <a:p>
            <a:pPr>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Y-Axis :    </a:t>
            </a:r>
          </a:p>
          <a:p>
            <a:pPr lvl="1">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Represents Affected Users (in billions).</a:t>
            </a:r>
          </a:p>
          <a:p>
            <a:pPr lvl="1">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The scale ranges from 4.2bn to 5.6bn.</a:t>
            </a:r>
          </a:p>
          <a:p>
            <a:pPr marL="400050">
              <a:buFont typeface="Wingdings" panose="05000000000000000000" pitchFamily="2" charset="2"/>
              <a:buChar char="q"/>
            </a:pPr>
            <a:r>
              <a:rPr lang="en-US" sz="1800" dirty="0">
                <a:solidFill>
                  <a:srgbClr val="EBF5FA"/>
                </a:solidFill>
                <a:latin typeface="Arial" panose="020B0604020202020204" pitchFamily="34" charset="0"/>
                <a:cs typeface="Arial" panose="020B0604020202020204" pitchFamily="34" charset="0"/>
              </a:rPr>
              <a:t>The number of affected users varies significantly between years.</a:t>
            </a:r>
          </a:p>
          <a:p>
            <a:pPr marL="400050">
              <a:buFont typeface="Wingdings" panose="05000000000000000000" pitchFamily="2" charset="2"/>
              <a:buChar char="q"/>
            </a:pPr>
            <a:r>
              <a:rPr lang="en-US" sz="1800" dirty="0">
                <a:solidFill>
                  <a:srgbClr val="EBF5FA"/>
                </a:solidFill>
                <a:latin typeface="Arial" panose="020B0604020202020204" pitchFamily="34" charset="0"/>
                <a:cs typeface="Arial" panose="020B0604020202020204" pitchFamily="34" charset="0"/>
              </a:rPr>
              <a:t>Some years show a much higher impact than others</a:t>
            </a:r>
            <a:r>
              <a:rPr lang="en-US" sz="2100" dirty="0">
                <a:solidFill>
                  <a:srgbClr val="EBF5FA"/>
                </a:solidFill>
                <a:latin typeface="Arial" panose="020B0604020202020204" pitchFamily="34" charset="0"/>
                <a:cs typeface="Arial" panose="020B0604020202020204" pitchFamily="34" charset="0"/>
              </a:rPr>
              <a:t>.</a:t>
            </a:r>
          </a:p>
          <a:p>
            <a:pPr marL="0" indent="0">
              <a:buNone/>
            </a:pPr>
            <a:endParaRPr lang="en-IN" dirty="0"/>
          </a:p>
        </p:txBody>
      </p:sp>
      <p:pic>
        <p:nvPicPr>
          <p:cNvPr id="5" name="Picture 4">
            <a:extLst>
              <a:ext uri="{FF2B5EF4-FFF2-40B4-BE49-F238E27FC236}">
                <a16:creationId xmlns:a16="http://schemas.microsoft.com/office/drawing/2014/main" id="{5A176BDF-FF2D-AD6E-C3DE-27E24A088047}"/>
              </a:ext>
            </a:extLst>
          </p:cNvPr>
          <p:cNvPicPr>
            <a:picLocks noChangeAspect="1"/>
          </p:cNvPicPr>
          <p:nvPr/>
        </p:nvPicPr>
        <p:blipFill>
          <a:blip r:embed="rId2"/>
          <a:stretch>
            <a:fillRect/>
          </a:stretch>
        </p:blipFill>
        <p:spPr>
          <a:xfrm>
            <a:off x="6561915" y="1552865"/>
            <a:ext cx="5338918" cy="4326825"/>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6" name="Rectangle 5"/>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1769805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0BA20-2C78-A8FE-EBBE-88B9647ABA19}"/>
              </a:ext>
            </a:extLst>
          </p:cNvPr>
          <p:cNvSpPr>
            <a:spLocks noGrp="1"/>
          </p:cNvSpPr>
          <p:nvPr>
            <p:ph type="title"/>
          </p:nvPr>
        </p:nvSpPr>
        <p:spPr>
          <a:xfrm>
            <a:off x="560439" y="356419"/>
            <a:ext cx="8249264" cy="516193"/>
          </a:xfrm>
        </p:spPr>
        <p:txBody>
          <a:bodyPr/>
          <a:lstStyle/>
          <a:p>
            <a:r>
              <a:rPr lang="en-US" sz="2800" b="1" dirty="0">
                <a:solidFill>
                  <a:srgbClr val="EBF5FA"/>
                </a:solidFill>
                <a:latin typeface="Arial" panose="020B0604020202020204" pitchFamily="34" charset="0"/>
                <a:cs typeface="Arial" panose="020B0604020202020204" pitchFamily="34" charset="0"/>
              </a:rPr>
              <a:t>Top 3 Yearly Attack Types</a:t>
            </a:r>
            <a:endParaRPr lang="en-IN" sz="2800" dirty="0">
              <a:solidFill>
                <a:schemeClr val="tx1"/>
              </a:solidFill>
            </a:endParaRPr>
          </a:p>
        </p:txBody>
      </p:sp>
      <p:pic>
        <p:nvPicPr>
          <p:cNvPr id="6" name="Content Placeholder 5">
            <a:extLst>
              <a:ext uri="{FF2B5EF4-FFF2-40B4-BE49-F238E27FC236}">
                <a16:creationId xmlns:a16="http://schemas.microsoft.com/office/drawing/2014/main" id="{F8E04E07-5CBC-073A-3926-47C2B6FD5D3C}"/>
              </a:ext>
            </a:extLst>
          </p:cNvPr>
          <p:cNvPicPr>
            <a:picLocks noGrp="1" noChangeAspect="1"/>
          </p:cNvPicPr>
          <p:nvPr>
            <p:ph idx="1"/>
          </p:nvPr>
        </p:nvPicPr>
        <p:blipFill>
          <a:blip r:embed="rId2"/>
          <a:stretch>
            <a:fillRect/>
          </a:stretch>
        </p:blipFill>
        <p:spPr>
          <a:xfrm>
            <a:off x="6685935" y="1543665"/>
            <a:ext cx="5171768" cy="4050890"/>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4F43F684-2E2E-2F53-CF0E-64A3078E103C}"/>
              </a:ext>
            </a:extLst>
          </p:cNvPr>
          <p:cNvSpPr>
            <a:spLocks noGrp="1"/>
          </p:cNvSpPr>
          <p:nvPr>
            <p:ph type="body" sz="half" idx="2"/>
          </p:nvPr>
        </p:nvSpPr>
        <p:spPr>
          <a:xfrm>
            <a:off x="629265" y="953730"/>
            <a:ext cx="5279922" cy="5289754"/>
          </a:xfrm>
        </p:spPr>
        <p:txBody>
          <a:bodyPr>
            <a:normAutofit/>
          </a:bodyPr>
          <a:lstStyle/>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X-Axis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Years (2016 → 2024).</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tick mark corresponds to a year.</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Y-Axis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the Number of Attacks.</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scale ranges from 1,500 to 2,000 attacks.</a:t>
            </a:r>
            <a:endParaRPr lang="en-US" sz="18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The chart highlights how different cyberattack types vary in frequency over time, with DDoS and Phishing being more prevalent, while SQL Injection remained steady but lower.</a:t>
            </a:r>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46480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4DE8F-C51F-93FE-F466-50DFC261607F}"/>
              </a:ext>
            </a:extLst>
          </p:cNvPr>
          <p:cNvSpPr>
            <a:spLocks noGrp="1"/>
          </p:cNvSpPr>
          <p:nvPr>
            <p:ph type="title"/>
          </p:nvPr>
        </p:nvSpPr>
        <p:spPr>
          <a:xfrm>
            <a:off x="715283" y="323073"/>
            <a:ext cx="7241795" cy="610993"/>
          </a:xfrm>
        </p:spPr>
        <p:txBody>
          <a:bodyPr/>
          <a:lstStyle/>
          <a:p>
            <a:r>
              <a:rPr lang="en-US" sz="2800" b="1" dirty="0">
                <a:solidFill>
                  <a:srgbClr val="EBF5FA"/>
                </a:solidFill>
                <a:latin typeface="Arial" panose="020B0604020202020204" pitchFamily="34" charset="0"/>
                <a:cs typeface="Arial" panose="020B0604020202020204" pitchFamily="34" charset="0"/>
              </a:rPr>
              <a:t>Target industry</a:t>
            </a:r>
            <a:endParaRPr lang="en-IN" sz="2800" dirty="0">
              <a:solidFill>
                <a:schemeClr val="tx1"/>
              </a:solidFill>
            </a:endParaRPr>
          </a:p>
        </p:txBody>
      </p:sp>
      <p:pic>
        <p:nvPicPr>
          <p:cNvPr id="6" name="Content Placeholder 5">
            <a:extLst>
              <a:ext uri="{FF2B5EF4-FFF2-40B4-BE49-F238E27FC236}">
                <a16:creationId xmlns:a16="http://schemas.microsoft.com/office/drawing/2014/main" id="{B476ACF9-3C52-4945-5E49-E4C8C51E3946}"/>
              </a:ext>
            </a:extLst>
          </p:cNvPr>
          <p:cNvPicPr>
            <a:picLocks noGrp="1" noChangeAspect="1"/>
          </p:cNvPicPr>
          <p:nvPr>
            <p:ph idx="1"/>
          </p:nvPr>
        </p:nvPicPr>
        <p:blipFill>
          <a:blip r:embed="rId2"/>
          <a:stretch>
            <a:fillRect/>
          </a:stretch>
        </p:blipFill>
        <p:spPr>
          <a:xfrm>
            <a:off x="6096000" y="1612492"/>
            <a:ext cx="5858972" cy="4050889"/>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8FDC2638-3521-4E29-1DCF-681FFFE0411A}"/>
              </a:ext>
            </a:extLst>
          </p:cNvPr>
          <p:cNvSpPr>
            <a:spLocks noGrp="1"/>
          </p:cNvSpPr>
          <p:nvPr>
            <p:ph type="body" sz="half" idx="2"/>
          </p:nvPr>
        </p:nvSpPr>
        <p:spPr>
          <a:xfrm>
            <a:off x="935118" y="1103834"/>
            <a:ext cx="4462792" cy="5431093"/>
          </a:xfrm>
        </p:spPr>
        <p:txBody>
          <a:bodyPr>
            <a:noAutofit/>
          </a:bodyPr>
          <a:lstStyle/>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X-Axis :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Years (2015 → 2024).</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tick mark corresponds to a year.</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Y-Axis :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Numerical values of attacks/incidents (scale from 1,000 to 2,000).</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The chart highlights how different industries were targeted over time, with Banking consistently high, Healthcare showing spikes, and IT maintaining steady but lower levels.</a:t>
            </a:r>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490656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3AE7EAE-DB7B-004F-CCB9-C180D6E661A3}"/>
              </a:ext>
            </a:extLst>
          </p:cNvPr>
          <p:cNvSpPr>
            <a:spLocks noGrp="1"/>
          </p:cNvSpPr>
          <p:nvPr>
            <p:ph type="body" sz="half" idx="2"/>
          </p:nvPr>
        </p:nvSpPr>
        <p:spPr>
          <a:xfrm>
            <a:off x="216310" y="255639"/>
            <a:ext cx="5614219" cy="6351638"/>
          </a:xfrm>
        </p:spPr>
        <p:txBody>
          <a:bodyPr>
            <a:normAutofit/>
          </a:bodyPr>
          <a:lstStyle/>
          <a:p>
            <a:r>
              <a:rPr lang="en-US" sz="2800" b="1" dirty="0">
                <a:solidFill>
                  <a:srgbClr val="EBF5FA"/>
                </a:solidFill>
                <a:latin typeface="Arial" panose="020B0604020202020204" pitchFamily="34" charset="0"/>
                <a:cs typeface="Arial" panose="020B0604020202020204" pitchFamily="34" charset="0"/>
              </a:rPr>
              <a:t>Peak Attack Year</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X-Axis :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the Years 2023 and 2024.</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year has a set of stacked bars showing the four categories.</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This axis helps you directly compare metrics between the two years.</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Y-Axis :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Percentages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scale ranges from 0% to 200%.</a:t>
            </a:r>
          </a:p>
          <a:p>
            <a:pPr marL="342900" indent="-34290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The chart highlights year-over-year changes in financial loss, industry targeting, attack volume, and attack identifiers.</a:t>
            </a:r>
            <a:endParaRPr lang="en-US" sz="18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q"/>
            </a:pPr>
            <a:r>
              <a:rPr lang="en-US" sz="1800" dirty="0">
                <a:solidFill>
                  <a:srgbClr val="EBF5FA"/>
                </a:solidFill>
                <a:latin typeface="Arial" panose="020B0604020202020204" pitchFamily="34" charset="0"/>
                <a:cs typeface="Arial" panose="020B0604020202020204" pitchFamily="34" charset="0"/>
              </a:rPr>
              <a:t>2017 is shown as the peak attack year</a:t>
            </a:r>
          </a:p>
          <a:p>
            <a:pPr lvl="1"/>
            <a:endParaRPr lang="en-US" sz="1800" dirty="0">
              <a:latin typeface="Arial" panose="020B0604020202020204" pitchFamily="34" charset="0"/>
              <a:cs typeface="Arial" panose="020B0604020202020204" pitchFamily="34" charset="0"/>
            </a:endParaRPr>
          </a:p>
          <a:p>
            <a:endParaRPr lang="en-IN" dirty="0"/>
          </a:p>
        </p:txBody>
      </p:sp>
      <p:pic>
        <p:nvPicPr>
          <p:cNvPr id="16" name="Picture 15">
            <a:extLst>
              <a:ext uri="{FF2B5EF4-FFF2-40B4-BE49-F238E27FC236}">
                <a16:creationId xmlns:a16="http://schemas.microsoft.com/office/drawing/2014/main" id="{B8F0571A-024E-AEE8-C9AA-5F4807B848A4}"/>
              </a:ext>
            </a:extLst>
          </p:cNvPr>
          <p:cNvPicPr>
            <a:picLocks noChangeAspect="1"/>
          </p:cNvPicPr>
          <p:nvPr/>
        </p:nvPicPr>
        <p:blipFill>
          <a:blip r:embed="rId2"/>
          <a:stretch>
            <a:fillRect/>
          </a:stretch>
        </p:blipFill>
        <p:spPr>
          <a:xfrm>
            <a:off x="6096000" y="1569654"/>
            <a:ext cx="5801033" cy="4005237"/>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17" name="Rectangle 1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7860299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BDB65-B4AE-7994-463A-F60A6AAE2397}"/>
              </a:ext>
            </a:extLst>
          </p:cNvPr>
          <p:cNvSpPr>
            <a:spLocks noGrp="1"/>
          </p:cNvSpPr>
          <p:nvPr>
            <p:ph type="title"/>
          </p:nvPr>
        </p:nvSpPr>
        <p:spPr>
          <a:xfrm>
            <a:off x="584299" y="452718"/>
            <a:ext cx="9466536" cy="687824"/>
          </a:xfrm>
        </p:spPr>
        <p:txBody>
          <a:bodyPr/>
          <a:lstStyle/>
          <a:p>
            <a:r>
              <a:rPr lang="en-IN" sz="3200" b="1" dirty="0">
                <a:solidFill>
                  <a:srgbClr val="EBF5FA"/>
                </a:solidFill>
                <a:latin typeface="Arial" panose="020B0604020202020204" pitchFamily="34" charset="0"/>
                <a:cs typeface="Arial" panose="020B0604020202020204" pitchFamily="34" charset="0"/>
              </a:rPr>
              <a:t>COUNTRY &amp; USER ANALYSIS</a:t>
            </a:r>
            <a:endParaRPr lang="en-IN" sz="3200" dirty="0">
              <a:solidFill>
                <a:schemeClr val="tx1"/>
              </a:solidFill>
            </a:endParaRPr>
          </a:p>
        </p:txBody>
      </p:sp>
      <p:pic>
        <p:nvPicPr>
          <p:cNvPr id="4" name="Picture 3">
            <a:extLst>
              <a:ext uri="{FF2B5EF4-FFF2-40B4-BE49-F238E27FC236}">
                <a16:creationId xmlns:a16="http://schemas.microsoft.com/office/drawing/2014/main" id="{29E62A56-204A-99A2-13FC-6446D28CC364}"/>
              </a:ext>
            </a:extLst>
          </p:cNvPr>
          <p:cNvPicPr>
            <a:picLocks noChangeAspect="1"/>
          </p:cNvPicPr>
          <p:nvPr/>
        </p:nvPicPr>
        <p:blipFill>
          <a:blip r:embed="rId2"/>
          <a:stretch>
            <a:fillRect/>
          </a:stretch>
        </p:blipFill>
        <p:spPr>
          <a:xfrm>
            <a:off x="813382" y="2658371"/>
            <a:ext cx="3289591" cy="766689"/>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pic>
        <p:nvPicPr>
          <p:cNvPr id="6" name="Picture 5">
            <a:extLst>
              <a:ext uri="{FF2B5EF4-FFF2-40B4-BE49-F238E27FC236}">
                <a16:creationId xmlns:a16="http://schemas.microsoft.com/office/drawing/2014/main" id="{FA417B66-B9DC-A148-FF63-417088FE09BA}"/>
              </a:ext>
            </a:extLst>
          </p:cNvPr>
          <p:cNvPicPr>
            <a:picLocks noChangeAspect="1"/>
          </p:cNvPicPr>
          <p:nvPr/>
        </p:nvPicPr>
        <p:blipFill>
          <a:blip r:embed="rId3"/>
          <a:stretch>
            <a:fillRect/>
          </a:stretch>
        </p:blipFill>
        <p:spPr>
          <a:xfrm>
            <a:off x="4529130" y="2647703"/>
            <a:ext cx="3380428" cy="766688"/>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pic>
        <p:nvPicPr>
          <p:cNvPr id="8" name="Picture 7">
            <a:extLst>
              <a:ext uri="{FF2B5EF4-FFF2-40B4-BE49-F238E27FC236}">
                <a16:creationId xmlns:a16="http://schemas.microsoft.com/office/drawing/2014/main" id="{89E5C5B2-1C7D-164D-7BFF-207D99998B12}"/>
              </a:ext>
            </a:extLst>
          </p:cNvPr>
          <p:cNvPicPr>
            <a:picLocks noChangeAspect="1"/>
          </p:cNvPicPr>
          <p:nvPr/>
        </p:nvPicPr>
        <p:blipFill>
          <a:blip r:embed="rId4"/>
          <a:stretch>
            <a:fillRect/>
          </a:stretch>
        </p:blipFill>
        <p:spPr>
          <a:xfrm>
            <a:off x="8335715" y="2673372"/>
            <a:ext cx="3289591" cy="766689"/>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pic>
        <p:nvPicPr>
          <p:cNvPr id="10" name="Picture 9">
            <a:extLst>
              <a:ext uri="{FF2B5EF4-FFF2-40B4-BE49-F238E27FC236}">
                <a16:creationId xmlns:a16="http://schemas.microsoft.com/office/drawing/2014/main" id="{DEB9316C-CAD7-1786-5DE2-A489D0AC9CE3}"/>
              </a:ext>
            </a:extLst>
          </p:cNvPr>
          <p:cNvPicPr>
            <a:picLocks noChangeAspect="1"/>
          </p:cNvPicPr>
          <p:nvPr/>
        </p:nvPicPr>
        <p:blipFill>
          <a:blip r:embed="rId5"/>
          <a:stretch>
            <a:fillRect/>
          </a:stretch>
        </p:blipFill>
        <p:spPr>
          <a:xfrm>
            <a:off x="4529130" y="4112088"/>
            <a:ext cx="3380428" cy="766688"/>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11" name="TextBox 10">
            <a:extLst>
              <a:ext uri="{FF2B5EF4-FFF2-40B4-BE49-F238E27FC236}">
                <a16:creationId xmlns:a16="http://schemas.microsoft.com/office/drawing/2014/main" id="{C53B2D61-3E5B-D803-1FD6-23A1FAF0BB78}"/>
              </a:ext>
            </a:extLst>
          </p:cNvPr>
          <p:cNvSpPr txBox="1"/>
          <p:nvPr/>
        </p:nvSpPr>
        <p:spPr>
          <a:xfrm>
            <a:off x="584299" y="1140542"/>
            <a:ext cx="11437735" cy="1050993"/>
          </a:xfrm>
          <a:prstGeom prst="rect">
            <a:avLst/>
          </a:prstGeom>
          <a:noFill/>
        </p:spPr>
        <p:txBody>
          <a:bodyPr wrap="square" rtlCol="0">
            <a:spAutoFit/>
          </a:bodyPr>
          <a:lstStyle/>
          <a:p>
            <a:r>
              <a:rPr lang="en-IN" dirty="0">
                <a:solidFill>
                  <a:srgbClr val="EBF5FA"/>
                </a:solidFill>
                <a:latin typeface="Arial" panose="020B0604020202020204" pitchFamily="34" charset="0"/>
                <a:cs typeface="Arial" panose="020B0604020202020204" pitchFamily="34" charset="0"/>
              </a:rPr>
              <a:t>Its means a comparative study of how different countries are impacted in terms of financial loss, user impact, and </a:t>
            </a:r>
            <a:r>
              <a:rPr lang="en-IN" dirty="0" err="1">
                <a:solidFill>
                  <a:srgbClr val="EBF5FA"/>
                </a:solidFill>
                <a:latin typeface="Arial" panose="020B0604020202020204" pitchFamily="34" charset="0"/>
                <a:cs typeface="Arial" panose="020B0604020202020204" pitchFamily="34" charset="0"/>
              </a:rPr>
              <a:t>defense</a:t>
            </a:r>
            <a:r>
              <a:rPr lang="en-IN" dirty="0">
                <a:solidFill>
                  <a:srgbClr val="EBF5FA"/>
                </a:solidFill>
                <a:latin typeface="Arial" panose="020B0604020202020204" pitchFamily="34" charset="0"/>
                <a:cs typeface="Arial" panose="020B0604020202020204" pitchFamily="34" charset="0"/>
              </a:rPr>
              <a:t> strength.</a:t>
            </a:r>
            <a:endParaRPr lang="en-IN" b="1" dirty="0">
              <a:latin typeface="Arial" panose="020B0604020202020204" pitchFamily="34" charset="0"/>
              <a:cs typeface="Arial" panose="020B0604020202020204" pitchFamily="34" charset="0"/>
            </a:endParaRPr>
          </a:p>
          <a:p>
            <a:pPr>
              <a:lnSpc>
                <a:spcPct val="150000"/>
              </a:lnSpc>
            </a:pPr>
            <a:r>
              <a:rPr lang="en-IN" sz="2000" b="1" dirty="0">
                <a:solidFill>
                  <a:srgbClr val="EBF5FA"/>
                </a:solidFill>
                <a:latin typeface="Arial" panose="020B0604020202020204" pitchFamily="34" charset="0"/>
                <a:cs typeface="Arial" panose="020B0604020202020204" pitchFamily="34" charset="0"/>
              </a:rPr>
              <a:t>Main KPIs:</a:t>
            </a:r>
          </a:p>
        </p:txBody>
      </p:sp>
      <p:sp>
        <p:nvSpPr>
          <p:cNvPr id="12" name="Rectangle 11"/>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577185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6" name="TextBox 25">
            <a:extLst>
              <a:ext uri="{FF2B5EF4-FFF2-40B4-BE49-F238E27FC236}">
                <a16:creationId xmlns:a16="http://schemas.microsoft.com/office/drawing/2014/main" id="{438B5B0F-01F7-DBFD-B7C1-D47F8132D2BC}"/>
              </a:ext>
            </a:extLst>
          </p:cNvPr>
          <p:cNvSpPr txBox="1"/>
          <p:nvPr/>
        </p:nvSpPr>
        <p:spPr>
          <a:xfrm>
            <a:off x="383457" y="680884"/>
            <a:ext cx="6361472" cy="4801314"/>
          </a:xfrm>
          <a:prstGeom prst="rect">
            <a:avLst/>
          </a:prstGeom>
          <a:noFill/>
        </p:spPr>
        <p:txBody>
          <a:bodyPr wrap="square" rtlCol="0">
            <a:spAutoFit/>
          </a:bodyPr>
          <a:lstStyle/>
          <a:p>
            <a:pPr marL="285750" indent="-285750">
              <a:buFont typeface="Wingdings" panose="05000000000000000000" pitchFamily="2" charset="2"/>
              <a:buChar char="q"/>
            </a:pPr>
            <a:r>
              <a:rPr lang="en-IN" dirty="0">
                <a:solidFill>
                  <a:srgbClr val="EBF5FA"/>
                </a:solidFill>
                <a:latin typeface="Arial" panose="020B0604020202020204" pitchFamily="34" charset="0"/>
                <a:cs typeface="Arial" panose="020B0604020202020204" pitchFamily="34" charset="0"/>
              </a:rPr>
              <a:t>X-Axis :</a:t>
            </a:r>
          </a:p>
          <a:p>
            <a:pPr marL="742950" lvl="1" indent="-285750">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Represents Years (2016 → 2024).</a:t>
            </a:r>
          </a:p>
          <a:p>
            <a:pPr marL="742950" lvl="1" indent="-285750">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Each tick mark corresponds to a year.</a:t>
            </a:r>
          </a:p>
          <a:p>
            <a:pPr marL="742950" lvl="1" indent="-285750">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This axis shows the timeline of attack activity across countries.</a:t>
            </a:r>
            <a:endParaRPr lang="en-US"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q"/>
            </a:pPr>
            <a:r>
              <a:rPr lang="en-IN" dirty="0">
                <a:solidFill>
                  <a:srgbClr val="EBF5FA"/>
                </a:solidFill>
                <a:latin typeface="Arial" panose="020B0604020202020204" pitchFamily="34" charset="0"/>
                <a:cs typeface="Arial" panose="020B0604020202020204" pitchFamily="34" charset="0"/>
              </a:rPr>
              <a:t>Y-Axis :</a:t>
            </a:r>
          </a:p>
          <a:p>
            <a:pPr marL="742950" lvl="1" indent="-285750">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Represents the Number of Attacks (in thousands, K).</a:t>
            </a:r>
          </a:p>
          <a:p>
            <a:pPr marL="742950" lvl="1" indent="-285750">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The scale ranges from 0K to 6K.</a:t>
            </a:r>
          </a:p>
          <a:p>
            <a:pPr marL="742950" lvl="1" indent="-285750">
              <a:buFont typeface="Courier New" panose="02070309020205020404" pitchFamily="49" charset="0"/>
              <a:buChar char="o"/>
            </a:pPr>
            <a:r>
              <a:rPr lang="en-IN" dirty="0">
                <a:solidFill>
                  <a:srgbClr val="EBF5FA"/>
                </a:solidFill>
                <a:latin typeface="Arial" panose="020B0604020202020204" pitchFamily="34" charset="0"/>
                <a:cs typeface="Arial" panose="020B0604020202020204" pitchFamily="34" charset="0"/>
              </a:rPr>
              <a:t>The height of each coloured band shows the attack volume for that country in a given year.</a:t>
            </a:r>
          </a:p>
          <a:p>
            <a:pPr marL="285750" lvl="0" indent="-285750">
              <a:buFont typeface="Wingdings" panose="05000000000000000000" pitchFamily="2" charset="2"/>
              <a:buChar char="q"/>
            </a:pPr>
            <a:r>
              <a:rPr lang="en-IN" dirty="0">
                <a:solidFill>
                  <a:srgbClr val="EBF5FA"/>
                </a:solidFill>
                <a:latin typeface="Arial" panose="020B0604020202020204" pitchFamily="34" charset="0"/>
                <a:cs typeface="Arial" panose="020B0604020202020204" pitchFamily="34" charset="0"/>
              </a:rPr>
              <a:t>Some countries have sharp rises and drops, while others stay more stable.</a:t>
            </a:r>
          </a:p>
          <a:p>
            <a:pPr marL="285750" lvl="0" indent="-285750">
              <a:buFont typeface="Wingdings" panose="05000000000000000000" pitchFamily="2" charset="2"/>
              <a:buChar char="q"/>
            </a:pPr>
            <a:r>
              <a:rPr lang="en-IN" dirty="0">
                <a:solidFill>
                  <a:srgbClr val="EBF5FA"/>
                </a:solidFill>
                <a:latin typeface="Arial" panose="020B0604020202020204" pitchFamily="34" charset="0"/>
                <a:cs typeface="Arial" panose="020B0604020202020204" pitchFamily="34" charset="0"/>
              </a:rPr>
              <a:t>The layered format makes it easy to compare each country’s share of attacks.</a:t>
            </a:r>
          </a:p>
          <a:p>
            <a:pPr marL="285750" lvl="0" indent="-285750">
              <a:buFont typeface="Wingdings" panose="05000000000000000000" pitchFamily="2" charset="2"/>
              <a:buChar char="q"/>
            </a:pPr>
            <a:r>
              <a:rPr lang="en-IN" dirty="0">
                <a:solidFill>
                  <a:srgbClr val="EBF5FA"/>
                </a:solidFill>
                <a:latin typeface="Arial" panose="020B0604020202020204" pitchFamily="34" charset="0"/>
                <a:cs typeface="Arial" panose="020B0604020202020204" pitchFamily="34" charset="0"/>
              </a:rPr>
              <a:t>Global spikes are visible around 2018 and 2023, when overall attack volumes were higher.</a:t>
            </a:r>
          </a:p>
          <a:p>
            <a:pPr lvl="0"/>
            <a:endParaRPr lang="en-IN" dirty="0"/>
          </a:p>
        </p:txBody>
      </p:sp>
      <p:pic>
        <p:nvPicPr>
          <p:cNvPr id="4" name="Picture 3">
            <a:extLst>
              <a:ext uri="{FF2B5EF4-FFF2-40B4-BE49-F238E27FC236}">
                <a16:creationId xmlns:a16="http://schemas.microsoft.com/office/drawing/2014/main" id="{9D051CB7-FF16-924F-E112-5FFD50C8B716}"/>
              </a:ext>
            </a:extLst>
          </p:cNvPr>
          <p:cNvPicPr>
            <a:picLocks noChangeAspect="1"/>
          </p:cNvPicPr>
          <p:nvPr/>
        </p:nvPicPr>
        <p:blipFill>
          <a:blip r:embed="rId2"/>
          <a:stretch>
            <a:fillRect/>
          </a:stretch>
        </p:blipFill>
        <p:spPr>
          <a:xfrm>
            <a:off x="7256207" y="1813808"/>
            <a:ext cx="4699819" cy="3869237"/>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3" name="TextBox 2">
            <a:extLst>
              <a:ext uri="{FF2B5EF4-FFF2-40B4-BE49-F238E27FC236}">
                <a16:creationId xmlns:a16="http://schemas.microsoft.com/office/drawing/2014/main" id="{E5C6EBF2-AE8F-8726-6BDA-EA0E013E6ED7}"/>
              </a:ext>
            </a:extLst>
          </p:cNvPr>
          <p:cNvSpPr txBox="1"/>
          <p:nvPr/>
        </p:nvSpPr>
        <p:spPr>
          <a:xfrm>
            <a:off x="383457" y="175473"/>
            <a:ext cx="7423355" cy="523220"/>
          </a:xfrm>
          <a:prstGeom prst="rect">
            <a:avLst/>
          </a:prstGeom>
          <a:noFill/>
        </p:spPr>
        <p:txBody>
          <a:bodyPr wrap="square" rtlCol="0">
            <a:spAutoFit/>
          </a:bodyPr>
          <a:lstStyle/>
          <a:p>
            <a:r>
              <a:rPr lang="en-US" sz="2800" b="1" dirty="0">
                <a:solidFill>
                  <a:srgbClr val="EBF5FA"/>
                </a:solidFill>
                <a:latin typeface="Arial" panose="020B0604020202020204" pitchFamily="34" charset="0"/>
                <a:cs typeface="Arial" panose="020B0604020202020204" pitchFamily="34" charset="0"/>
              </a:rPr>
              <a:t>Top 5 Country Attack Trends</a:t>
            </a:r>
          </a:p>
        </p:txBody>
      </p:sp>
      <p:sp>
        <p:nvSpPr>
          <p:cNvPr id="27" name="Rectangle 2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0253356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C5004-EDCC-68BB-D1BC-F7AEA686AD51}"/>
              </a:ext>
            </a:extLst>
          </p:cNvPr>
          <p:cNvSpPr>
            <a:spLocks noGrp="1"/>
          </p:cNvSpPr>
          <p:nvPr>
            <p:ph type="title"/>
          </p:nvPr>
        </p:nvSpPr>
        <p:spPr>
          <a:xfrm>
            <a:off x="692836" y="501445"/>
            <a:ext cx="7920221" cy="452284"/>
          </a:xfrm>
        </p:spPr>
        <p:txBody>
          <a:bodyPr/>
          <a:lstStyle/>
          <a:p>
            <a:r>
              <a:rPr lang="en-US" sz="2800" b="1" dirty="0">
                <a:solidFill>
                  <a:srgbClr val="EBF5FA"/>
                </a:solidFill>
                <a:latin typeface="Arial" panose="020B0604020202020204" pitchFamily="34" charset="0"/>
                <a:cs typeface="Arial" panose="020B0604020202020204" pitchFamily="34" charset="0"/>
              </a:rPr>
              <a:t>Financial Impact </a:t>
            </a:r>
            <a:endParaRPr lang="en-IN" sz="3200" dirty="0">
              <a:solidFill>
                <a:schemeClr val="tx1"/>
              </a:solidFill>
            </a:endParaRPr>
          </a:p>
        </p:txBody>
      </p:sp>
      <p:pic>
        <p:nvPicPr>
          <p:cNvPr id="6" name="Content Placeholder 5">
            <a:extLst>
              <a:ext uri="{FF2B5EF4-FFF2-40B4-BE49-F238E27FC236}">
                <a16:creationId xmlns:a16="http://schemas.microsoft.com/office/drawing/2014/main" id="{C3EFE0FC-4073-B158-2852-6B998BF0727B}"/>
              </a:ext>
            </a:extLst>
          </p:cNvPr>
          <p:cNvPicPr>
            <a:picLocks noGrp="1" noChangeAspect="1"/>
          </p:cNvPicPr>
          <p:nvPr>
            <p:ph idx="1"/>
          </p:nvPr>
        </p:nvPicPr>
        <p:blipFill>
          <a:blip r:embed="rId2"/>
          <a:stretch>
            <a:fillRect/>
          </a:stretch>
        </p:blipFill>
        <p:spPr>
          <a:xfrm>
            <a:off x="5860492" y="1741499"/>
            <a:ext cx="5800565" cy="3725236"/>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0A025F35-A4AE-60D4-F9D7-68F7D252AABC}"/>
              </a:ext>
            </a:extLst>
          </p:cNvPr>
          <p:cNvSpPr>
            <a:spLocks noGrp="1"/>
          </p:cNvSpPr>
          <p:nvPr>
            <p:ph type="body" sz="half" idx="2"/>
          </p:nvPr>
        </p:nvSpPr>
        <p:spPr>
          <a:xfrm>
            <a:off x="791160" y="1103834"/>
            <a:ext cx="4370775" cy="4579211"/>
          </a:xfrm>
        </p:spPr>
        <p:txBody>
          <a:bodyPr>
            <a:normAutofit/>
          </a:bodyPr>
          <a:lstStyle/>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map highlights countries and regions in blue, indicating areas where financial impact was significant.</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It covers all major continents: North America, South America, Europe, Africa, Asia, and Australia, along with the major oceans for geographic context.</a:t>
            </a:r>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8761195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2DFD5-5128-477F-68CA-A7FF3DE295B7}"/>
              </a:ext>
            </a:extLst>
          </p:cNvPr>
          <p:cNvSpPr>
            <a:spLocks noGrp="1"/>
          </p:cNvSpPr>
          <p:nvPr>
            <p:ph type="title"/>
          </p:nvPr>
        </p:nvSpPr>
        <p:spPr>
          <a:xfrm>
            <a:off x="830488" y="393290"/>
            <a:ext cx="6465047" cy="442451"/>
          </a:xfrm>
        </p:spPr>
        <p:txBody>
          <a:bodyPr/>
          <a:lstStyle/>
          <a:p>
            <a:r>
              <a:rPr lang="en-US" sz="2800" b="1" dirty="0">
                <a:solidFill>
                  <a:srgbClr val="EBF5FA"/>
                </a:solidFill>
                <a:latin typeface="Arial" panose="020B0604020202020204" pitchFamily="34" charset="0"/>
                <a:cs typeface="Arial" panose="020B0604020202020204" pitchFamily="34" charset="0"/>
              </a:rPr>
              <a:t>Users Impact by Country</a:t>
            </a:r>
            <a:endParaRPr lang="en-IN" sz="3600" dirty="0">
              <a:solidFill>
                <a:schemeClr val="tx1"/>
              </a:solidFill>
            </a:endParaRPr>
          </a:p>
        </p:txBody>
      </p:sp>
      <p:pic>
        <p:nvPicPr>
          <p:cNvPr id="6" name="Content Placeholder 5">
            <a:extLst>
              <a:ext uri="{FF2B5EF4-FFF2-40B4-BE49-F238E27FC236}">
                <a16:creationId xmlns:a16="http://schemas.microsoft.com/office/drawing/2014/main" id="{0EE3E102-321E-DA7C-606B-4A5A546E9910}"/>
              </a:ext>
            </a:extLst>
          </p:cNvPr>
          <p:cNvPicPr>
            <a:picLocks noGrp="1" noChangeAspect="1"/>
          </p:cNvPicPr>
          <p:nvPr>
            <p:ph idx="1"/>
          </p:nvPr>
        </p:nvPicPr>
        <p:blipFill>
          <a:blip r:embed="rId2"/>
          <a:stretch>
            <a:fillRect/>
          </a:stretch>
        </p:blipFill>
        <p:spPr>
          <a:xfrm>
            <a:off x="6096000" y="1698687"/>
            <a:ext cx="5536065" cy="4041057"/>
          </a:xfrm>
          <a:prstGeom prst="rect">
            <a:avLst/>
          </a:prstGeom>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90EE49B1-8FEE-49D9-A38F-0AF777BE859C}"/>
              </a:ext>
            </a:extLst>
          </p:cNvPr>
          <p:cNvSpPr>
            <a:spLocks noGrp="1"/>
          </p:cNvSpPr>
          <p:nvPr>
            <p:ph type="body" sz="half" idx="2"/>
          </p:nvPr>
        </p:nvSpPr>
        <p:spPr>
          <a:xfrm>
            <a:off x="948476" y="1071716"/>
            <a:ext cx="3830001" cy="4668028"/>
          </a:xfrm>
        </p:spPr>
        <p:txBody>
          <a:bodyPr>
            <a:normAutofit/>
          </a:bodyPr>
          <a:lstStyle/>
          <a:p>
            <a:pPr marL="742950" lvl="1" indent="-28575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The Users Impact by Country map shows how many users are affected in different countries. </a:t>
            </a:r>
          </a:p>
          <a:p>
            <a:pPr marL="742950" lvl="1" indent="-28575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According to the dashboard, Brazil has the highest user impact.</a:t>
            </a:r>
          </a:p>
          <a:p>
            <a:pPr lvl="1"/>
            <a:endParaRPr lang="en-IN" dirty="0"/>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836175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A8F5B853-0F48-71F4-D704-057FA1D2BACF}"/>
              </a:ext>
            </a:extLst>
          </p:cNvPr>
          <p:cNvPicPr>
            <a:picLocks noGrp="1" noChangeAspect="1"/>
          </p:cNvPicPr>
          <p:nvPr>
            <p:ph idx="1"/>
          </p:nvPr>
        </p:nvPicPr>
        <p:blipFill>
          <a:blip r:embed="rId2"/>
          <a:stretch>
            <a:fillRect/>
          </a:stretch>
        </p:blipFill>
        <p:spPr>
          <a:xfrm>
            <a:off x="6764594" y="1919043"/>
            <a:ext cx="4975123" cy="3370712"/>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C2133C0E-5831-E07D-D954-C2972B80F179}"/>
              </a:ext>
            </a:extLst>
          </p:cNvPr>
          <p:cNvSpPr>
            <a:spLocks noGrp="1"/>
          </p:cNvSpPr>
          <p:nvPr>
            <p:ph type="body" sz="half" idx="2"/>
          </p:nvPr>
        </p:nvSpPr>
        <p:spPr>
          <a:xfrm>
            <a:off x="908614" y="1055526"/>
            <a:ext cx="5187386" cy="4746947"/>
          </a:xfrm>
        </p:spPr>
        <p:txBody>
          <a:bodyPr>
            <a:normAutofit/>
          </a:bodyPr>
          <a:lstStyle/>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chart is divided into six </a:t>
            </a:r>
            <a:r>
              <a:rPr lang="en-IN" sz="1800" dirty="0" err="1">
                <a:solidFill>
                  <a:srgbClr val="EBF5FA"/>
                </a:solidFill>
                <a:latin typeface="Arial" panose="020B0604020202020204" pitchFamily="34" charset="0"/>
                <a:cs typeface="Arial" panose="020B0604020202020204" pitchFamily="34" charset="0"/>
              </a:rPr>
              <a:t>colored</a:t>
            </a:r>
            <a:r>
              <a:rPr lang="en-IN" sz="1800" dirty="0">
                <a:solidFill>
                  <a:srgbClr val="EBF5FA"/>
                </a:solidFill>
                <a:latin typeface="Arial" panose="020B0604020202020204" pitchFamily="34" charset="0"/>
                <a:cs typeface="Arial" panose="020B0604020202020204" pitchFamily="34" charset="0"/>
              </a:rPr>
              <a:t> segments, each representing a specific attack type: Man-in-the-middle, SQL Injection, Malware, Ransomware, DDoS, and Phishing.</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segment shows both the number of users impacted (in thousands) and the percentage share of total impact.</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At the </a:t>
            </a:r>
            <a:r>
              <a:rPr lang="en-IN" sz="1800" dirty="0" err="1">
                <a:solidFill>
                  <a:srgbClr val="EBF5FA"/>
                </a:solidFill>
                <a:latin typeface="Arial" panose="020B0604020202020204" pitchFamily="34" charset="0"/>
                <a:cs typeface="Arial" panose="020B0604020202020204" pitchFamily="34" charset="0"/>
              </a:rPr>
              <a:t>center</a:t>
            </a:r>
            <a:r>
              <a:rPr lang="en-IN" sz="1800" dirty="0">
                <a:solidFill>
                  <a:srgbClr val="EBF5FA"/>
                </a:solidFill>
                <a:latin typeface="Arial" panose="020B0604020202020204" pitchFamily="34" charset="0"/>
                <a:cs typeface="Arial" panose="020B0604020202020204" pitchFamily="34" charset="0"/>
              </a:rPr>
              <a:t>, the chart displays the total impact value: 504.67K users.</a:t>
            </a:r>
          </a:p>
        </p:txBody>
      </p:sp>
      <p:sp>
        <p:nvSpPr>
          <p:cNvPr id="2" name="TextBox 1">
            <a:extLst>
              <a:ext uri="{FF2B5EF4-FFF2-40B4-BE49-F238E27FC236}">
                <a16:creationId xmlns:a16="http://schemas.microsoft.com/office/drawing/2014/main" id="{CBA8878F-5C50-8D50-0DC2-CA40762F513F}"/>
              </a:ext>
            </a:extLst>
          </p:cNvPr>
          <p:cNvSpPr txBox="1"/>
          <p:nvPr/>
        </p:nvSpPr>
        <p:spPr>
          <a:xfrm>
            <a:off x="908614" y="412955"/>
            <a:ext cx="5855980" cy="523220"/>
          </a:xfrm>
          <a:prstGeom prst="rect">
            <a:avLst/>
          </a:prstGeom>
          <a:noFill/>
        </p:spPr>
        <p:txBody>
          <a:bodyPr wrap="square" rtlCol="0">
            <a:spAutoFit/>
          </a:bodyPr>
          <a:lstStyle/>
          <a:p>
            <a:r>
              <a:rPr lang="en-US" sz="2800" b="1" dirty="0">
                <a:solidFill>
                  <a:srgbClr val="EBF5FA"/>
                </a:solidFill>
                <a:latin typeface="Arial" panose="020B0604020202020204" pitchFamily="34" charset="0"/>
                <a:cs typeface="Arial" panose="020B0604020202020204" pitchFamily="34" charset="0"/>
              </a:rPr>
              <a:t>Attack Impact on Users </a:t>
            </a:r>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5175574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2E1-DF72-FE64-B816-4C3E6D344EC3}"/>
              </a:ext>
            </a:extLst>
          </p:cNvPr>
          <p:cNvSpPr>
            <a:spLocks noGrp="1"/>
          </p:cNvSpPr>
          <p:nvPr>
            <p:ph type="title"/>
          </p:nvPr>
        </p:nvSpPr>
        <p:spPr>
          <a:xfrm rot="10800000" flipV="1">
            <a:off x="1086127" y="501446"/>
            <a:ext cx="7782570" cy="530941"/>
          </a:xfrm>
        </p:spPr>
        <p:txBody>
          <a:bodyPr/>
          <a:lstStyle/>
          <a:p>
            <a:r>
              <a:rPr lang="en-US" sz="2800" b="1" dirty="0">
                <a:solidFill>
                  <a:srgbClr val="EBF5FA"/>
                </a:solidFill>
                <a:latin typeface="Arial" panose="020B0604020202020204" pitchFamily="34" charset="0"/>
                <a:cs typeface="Arial" panose="020B0604020202020204" pitchFamily="34" charset="0"/>
              </a:rPr>
              <a:t>Attack Source by Country</a:t>
            </a:r>
            <a:endParaRPr lang="en-IN" sz="2800" dirty="0">
              <a:solidFill>
                <a:schemeClr val="tx1"/>
              </a:solidFill>
            </a:endParaRPr>
          </a:p>
        </p:txBody>
      </p:sp>
      <p:pic>
        <p:nvPicPr>
          <p:cNvPr id="6" name="Content Placeholder 5">
            <a:extLst>
              <a:ext uri="{FF2B5EF4-FFF2-40B4-BE49-F238E27FC236}">
                <a16:creationId xmlns:a16="http://schemas.microsoft.com/office/drawing/2014/main" id="{067449FC-2754-6652-DE62-BEBB04CCE8DC}"/>
              </a:ext>
            </a:extLst>
          </p:cNvPr>
          <p:cNvPicPr>
            <a:picLocks noGrp="1" noChangeAspect="1"/>
          </p:cNvPicPr>
          <p:nvPr>
            <p:ph idx="1"/>
          </p:nvPr>
        </p:nvPicPr>
        <p:blipFill>
          <a:blip r:embed="rId2"/>
          <a:stretch>
            <a:fillRect/>
          </a:stretch>
        </p:blipFill>
        <p:spPr>
          <a:xfrm>
            <a:off x="6351639" y="1754888"/>
            <a:ext cx="5270090" cy="3790506"/>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2D25DF8E-89B1-B9E8-2F16-35E74481981E}"/>
              </a:ext>
            </a:extLst>
          </p:cNvPr>
          <p:cNvSpPr>
            <a:spLocks noGrp="1"/>
          </p:cNvSpPr>
          <p:nvPr>
            <p:ph type="body" sz="half" idx="2"/>
          </p:nvPr>
        </p:nvSpPr>
        <p:spPr>
          <a:xfrm>
            <a:off x="928811" y="1378975"/>
            <a:ext cx="4292118" cy="2895599"/>
          </a:xfrm>
        </p:spPr>
        <p:txBody>
          <a:bodyPr>
            <a:normAutofit/>
          </a:bodyPr>
          <a:lstStyle/>
          <a:p>
            <a:pPr marL="742950" lvl="1" indent="-285750">
              <a:buFont typeface="Wingdings" panose="05000000000000000000" pitchFamily="2" charset="2"/>
              <a:buChar char="Ø"/>
            </a:pPr>
            <a:r>
              <a:rPr lang="en-US" sz="1800" dirty="0">
                <a:solidFill>
                  <a:srgbClr val="EBF5FA"/>
                </a:solidFill>
                <a:latin typeface="Arial" panose="020B0604020202020204" pitchFamily="34" charset="0"/>
                <a:cs typeface="Arial" panose="020B0604020202020204" pitchFamily="34" charset="0"/>
              </a:rPr>
              <a:t>The Attack Source by Country map shows the geographical distribution of different attack sources. </a:t>
            </a:r>
          </a:p>
          <a:p>
            <a:pPr marL="742950" lvl="1" indent="-285750">
              <a:buFont typeface="Wingdings" panose="05000000000000000000" pitchFamily="2" charset="2"/>
              <a:buChar char="Ø"/>
            </a:pPr>
            <a:r>
              <a:rPr lang="en-US" sz="1800" dirty="0">
                <a:solidFill>
                  <a:srgbClr val="EBF5FA"/>
                </a:solidFill>
                <a:latin typeface="Arial" panose="020B0604020202020204" pitchFamily="34" charset="0"/>
                <a:cs typeface="Arial" panose="020B0604020202020204" pitchFamily="34" charset="0"/>
              </a:rPr>
              <a:t>It helps us understand the relationship between countries and sources of cyberattacks.</a:t>
            </a:r>
          </a:p>
          <a:p>
            <a:endParaRPr lang="en-IN" dirty="0"/>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5180615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9848A-3BA1-352A-432B-A8ECD9A1E32D}"/>
              </a:ext>
            </a:extLst>
          </p:cNvPr>
          <p:cNvSpPr>
            <a:spLocks noGrp="1"/>
          </p:cNvSpPr>
          <p:nvPr>
            <p:ph type="title"/>
          </p:nvPr>
        </p:nvSpPr>
        <p:spPr>
          <a:xfrm>
            <a:off x="646111" y="452718"/>
            <a:ext cx="9404723" cy="736985"/>
          </a:xfrm>
        </p:spPr>
        <p:txBody>
          <a:bodyPr/>
          <a:lstStyle/>
          <a:p>
            <a:r>
              <a:rPr lang="en-US" sz="3200" b="1" dirty="0">
                <a:solidFill>
                  <a:srgbClr val="EBF5FA"/>
                </a:solidFill>
                <a:latin typeface="Arial" panose="020B0604020202020204" pitchFamily="34" charset="0"/>
                <a:cs typeface="Arial" panose="020B0604020202020204" pitchFamily="34" charset="0"/>
              </a:rPr>
              <a:t>ATTACK &amp; INDUSTRY ANALYSIS</a:t>
            </a:r>
            <a:endParaRPr lang="en-IN" sz="3200" dirty="0">
              <a:solidFill>
                <a:schemeClr val="tx1"/>
              </a:solidFill>
            </a:endParaRPr>
          </a:p>
        </p:txBody>
      </p:sp>
      <p:sp>
        <p:nvSpPr>
          <p:cNvPr id="3" name="Content Placeholder 2">
            <a:extLst>
              <a:ext uri="{FF2B5EF4-FFF2-40B4-BE49-F238E27FC236}">
                <a16:creationId xmlns:a16="http://schemas.microsoft.com/office/drawing/2014/main" id="{1DAE4275-C162-7026-6C0D-4F6429D41E27}"/>
              </a:ext>
            </a:extLst>
          </p:cNvPr>
          <p:cNvSpPr>
            <a:spLocks noGrp="1"/>
          </p:cNvSpPr>
          <p:nvPr>
            <p:ph idx="1"/>
          </p:nvPr>
        </p:nvSpPr>
        <p:spPr>
          <a:xfrm>
            <a:off x="1103312" y="1189704"/>
            <a:ext cx="8946541" cy="1219199"/>
          </a:xfrm>
        </p:spPr>
        <p:txBody>
          <a:bodyPr>
            <a:normAutofit/>
          </a:bodyPr>
          <a:lstStyle/>
          <a:p>
            <a:pPr>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Its refers to a comparative study of how different types of cyberattacks affect various industries in terms of impact and losses.</a:t>
            </a:r>
          </a:p>
          <a:p>
            <a:pPr marL="0" indent="0">
              <a:buNone/>
            </a:pPr>
            <a:r>
              <a:rPr lang="en-IN" b="1" dirty="0">
                <a:solidFill>
                  <a:srgbClr val="EBF5FA"/>
                </a:solidFill>
                <a:latin typeface="Arial" panose="020B0604020202020204" pitchFamily="34" charset="0"/>
                <a:cs typeface="Arial" panose="020B0604020202020204" pitchFamily="34" charset="0"/>
              </a:rPr>
              <a:t>Main KPIs :</a:t>
            </a:r>
          </a:p>
        </p:txBody>
      </p:sp>
      <p:pic>
        <p:nvPicPr>
          <p:cNvPr id="5" name="Picture 4">
            <a:extLst>
              <a:ext uri="{FF2B5EF4-FFF2-40B4-BE49-F238E27FC236}">
                <a16:creationId xmlns:a16="http://schemas.microsoft.com/office/drawing/2014/main" id="{51D63528-17FC-B4F6-0331-96CF11EC6AD3}"/>
              </a:ext>
            </a:extLst>
          </p:cNvPr>
          <p:cNvPicPr>
            <a:picLocks noChangeAspect="1"/>
          </p:cNvPicPr>
          <p:nvPr/>
        </p:nvPicPr>
        <p:blipFill>
          <a:blip r:embed="rId2"/>
          <a:stretch>
            <a:fillRect/>
          </a:stretch>
        </p:blipFill>
        <p:spPr>
          <a:xfrm>
            <a:off x="2092570" y="2693749"/>
            <a:ext cx="2456330" cy="696167"/>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pic>
        <p:nvPicPr>
          <p:cNvPr id="7" name="Picture 6">
            <a:extLst>
              <a:ext uri="{FF2B5EF4-FFF2-40B4-BE49-F238E27FC236}">
                <a16:creationId xmlns:a16="http://schemas.microsoft.com/office/drawing/2014/main" id="{E1E9542B-974B-8B88-F100-90DDDAD36148}"/>
              </a:ext>
            </a:extLst>
          </p:cNvPr>
          <p:cNvPicPr>
            <a:picLocks noChangeAspect="1"/>
          </p:cNvPicPr>
          <p:nvPr/>
        </p:nvPicPr>
        <p:blipFill>
          <a:blip r:embed="rId3"/>
          <a:stretch>
            <a:fillRect/>
          </a:stretch>
        </p:blipFill>
        <p:spPr>
          <a:xfrm>
            <a:off x="5348472" y="2689377"/>
            <a:ext cx="2639560" cy="696167"/>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pic>
        <p:nvPicPr>
          <p:cNvPr id="9" name="Picture 8">
            <a:extLst>
              <a:ext uri="{FF2B5EF4-FFF2-40B4-BE49-F238E27FC236}">
                <a16:creationId xmlns:a16="http://schemas.microsoft.com/office/drawing/2014/main" id="{B57AFD53-4E19-DDB5-9C28-146244F59AB4}"/>
              </a:ext>
            </a:extLst>
          </p:cNvPr>
          <p:cNvPicPr>
            <a:picLocks noChangeAspect="1"/>
          </p:cNvPicPr>
          <p:nvPr/>
        </p:nvPicPr>
        <p:blipFill>
          <a:blip r:embed="rId4"/>
          <a:stretch>
            <a:fillRect/>
          </a:stretch>
        </p:blipFill>
        <p:spPr>
          <a:xfrm>
            <a:off x="8604376" y="2689377"/>
            <a:ext cx="2639560" cy="665314"/>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pic>
        <p:nvPicPr>
          <p:cNvPr id="11" name="Picture 10">
            <a:extLst>
              <a:ext uri="{FF2B5EF4-FFF2-40B4-BE49-F238E27FC236}">
                <a16:creationId xmlns:a16="http://schemas.microsoft.com/office/drawing/2014/main" id="{68BB583D-90ED-A2C2-CAC0-99AF9FC215E4}"/>
              </a:ext>
            </a:extLst>
          </p:cNvPr>
          <p:cNvPicPr>
            <a:picLocks noChangeAspect="1"/>
          </p:cNvPicPr>
          <p:nvPr/>
        </p:nvPicPr>
        <p:blipFill>
          <a:blip r:embed="rId5"/>
          <a:stretch>
            <a:fillRect/>
          </a:stretch>
        </p:blipFill>
        <p:spPr>
          <a:xfrm>
            <a:off x="3598606" y="4061069"/>
            <a:ext cx="2713704" cy="696167"/>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pic>
        <p:nvPicPr>
          <p:cNvPr id="13" name="Picture 12">
            <a:extLst>
              <a:ext uri="{FF2B5EF4-FFF2-40B4-BE49-F238E27FC236}">
                <a16:creationId xmlns:a16="http://schemas.microsoft.com/office/drawing/2014/main" id="{6FEBD43E-636A-8A15-A384-E0570F88B30F}"/>
              </a:ext>
            </a:extLst>
          </p:cNvPr>
          <p:cNvPicPr>
            <a:picLocks noChangeAspect="1"/>
          </p:cNvPicPr>
          <p:nvPr/>
        </p:nvPicPr>
        <p:blipFill>
          <a:blip r:embed="rId6"/>
          <a:stretch>
            <a:fillRect/>
          </a:stretch>
        </p:blipFill>
        <p:spPr>
          <a:xfrm>
            <a:off x="6737078" y="4061069"/>
            <a:ext cx="2639560" cy="696167"/>
          </a:xfrm>
          <a:prstGeom prst="rect">
            <a:avLst/>
          </a:prstGeom>
          <a:effectLst>
            <a:glow rad="228600">
              <a:schemeClr val="accent1">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14" name="Rectangle 1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620781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952861-DB8C-F06E-5CAD-74668B8A4E3F}"/>
              </a:ext>
            </a:extLst>
          </p:cNvPr>
          <p:cNvSpPr>
            <a:spLocks noGrp="1"/>
          </p:cNvSpPr>
          <p:nvPr>
            <p:ph type="title"/>
          </p:nvPr>
        </p:nvSpPr>
        <p:spPr>
          <a:xfrm>
            <a:off x="731633" y="212731"/>
            <a:ext cx="9434922" cy="530225"/>
          </a:xfrm>
        </p:spPr>
        <p:txBody>
          <a:bodyPr>
            <a:noAutofit/>
          </a:bodyPr>
          <a:lstStyle/>
          <a:p>
            <a:endParaRPr lang="en-IN" sz="3200" b="1" dirty="0">
              <a:solidFill>
                <a:schemeClr val="tx1"/>
              </a:solidFill>
              <a:latin typeface="Arial" panose="020B0604020202020204" pitchFamily="34" charset="0"/>
              <a:cs typeface="Arial" panose="020B0604020202020204" pitchFamily="34" charset="0"/>
            </a:endParaRPr>
          </a:p>
        </p:txBody>
      </p:sp>
      <p:pic>
        <p:nvPicPr>
          <p:cNvPr id="6" name="Content Placeholder 5">
            <a:extLst>
              <a:ext uri="{FF2B5EF4-FFF2-40B4-BE49-F238E27FC236}">
                <a16:creationId xmlns:a16="http://schemas.microsoft.com/office/drawing/2014/main" id="{7CBFE15B-9306-3DCC-8138-4CDB1AE64921}"/>
              </a:ext>
            </a:extLst>
          </p:cNvPr>
          <p:cNvPicPr>
            <a:picLocks noGrp="1" noChangeAspect="1"/>
          </p:cNvPicPr>
          <p:nvPr>
            <p:ph idx="1"/>
          </p:nvPr>
        </p:nvPicPr>
        <p:blipFill>
          <a:blip r:embed="rId2"/>
          <a:stretch>
            <a:fillRect/>
          </a:stretch>
        </p:blipFill>
        <p:spPr>
          <a:xfrm>
            <a:off x="6155742" y="2781217"/>
            <a:ext cx="2453853" cy="1905165"/>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2825B03B-83B0-92E6-4394-BD41B05D1166}"/>
              </a:ext>
            </a:extLst>
          </p:cNvPr>
          <p:cNvSpPr>
            <a:spLocks noGrp="1"/>
          </p:cNvSpPr>
          <p:nvPr>
            <p:ph type="body" sz="half" idx="2"/>
          </p:nvPr>
        </p:nvSpPr>
        <p:spPr>
          <a:xfrm>
            <a:off x="839788" y="816077"/>
            <a:ext cx="5452857" cy="5594556"/>
          </a:xfrm>
        </p:spPr>
        <p:txBody>
          <a:bodyPr>
            <a:noAutofit/>
          </a:bodyPr>
          <a:lstStyle/>
          <a:p>
            <a:r>
              <a:rPr lang="en-US" sz="2000" b="1" dirty="0">
                <a:solidFill>
                  <a:srgbClr val="EBF5FA"/>
                </a:solidFill>
                <a:latin typeface="Arial" panose="020B0604020202020204" pitchFamily="34" charset="0"/>
                <a:cs typeface="Arial" panose="020B0604020202020204" pitchFamily="34" charset="0"/>
              </a:rPr>
              <a:t>Attack Recovery Analysis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block represents a cyberattack type with a numerical value.</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Attack types included: Malware, SQL Injection, Man-in-the-Middle, Ransomware, Phishing, and DDoS.</a:t>
            </a:r>
            <a:endParaRPr lang="en-US" sz="1800" dirty="0">
              <a:latin typeface="Arial" panose="020B0604020202020204" pitchFamily="34" charset="0"/>
              <a:cs typeface="Arial" panose="020B0604020202020204" pitchFamily="34" charset="0"/>
            </a:endParaRPr>
          </a:p>
          <a:p>
            <a:pPr marL="800100" lvl="1" indent="-34290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The Attack Recovery Analysis compares the average recovery time for different attack types. </a:t>
            </a:r>
          </a:p>
          <a:p>
            <a:pPr marL="800100" lvl="1" indent="-34290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Malware has the highest displayed recovery time, while DDoS has the lowest among the attack types shown. </a:t>
            </a:r>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0932835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743E6-B754-AA5E-D3D6-2DBEF87BF5B5}"/>
              </a:ext>
            </a:extLst>
          </p:cNvPr>
          <p:cNvSpPr>
            <a:spLocks noGrp="1"/>
          </p:cNvSpPr>
          <p:nvPr>
            <p:ph type="title"/>
          </p:nvPr>
        </p:nvSpPr>
        <p:spPr>
          <a:xfrm>
            <a:off x="861376" y="167148"/>
            <a:ext cx="7389279" cy="786581"/>
          </a:xfrm>
        </p:spPr>
        <p:txBody>
          <a:bodyPr/>
          <a:lstStyle/>
          <a:p>
            <a:r>
              <a:rPr lang="en-US" sz="2000" b="1" dirty="0">
                <a:solidFill>
                  <a:srgbClr val="EBF5FA"/>
                </a:solidFill>
                <a:latin typeface="Arial" panose="020B0604020202020204" pitchFamily="34" charset="0"/>
                <a:cs typeface="Arial" panose="020B0604020202020204" pitchFamily="34" charset="0"/>
              </a:rPr>
              <a:t>Industry Loss Analysis</a:t>
            </a:r>
            <a:br>
              <a:rPr lang="en-US" sz="2000" b="1" dirty="0">
                <a:solidFill>
                  <a:schemeClr val="tx1"/>
                </a:solidFill>
                <a:latin typeface="Arial" panose="020B0604020202020204" pitchFamily="34" charset="0"/>
                <a:cs typeface="Arial" panose="020B0604020202020204" pitchFamily="34" charset="0"/>
              </a:rPr>
            </a:br>
            <a:endParaRPr lang="en-IN" sz="2000" dirty="0">
              <a:solidFill>
                <a:schemeClr val="tx1"/>
              </a:solidFill>
            </a:endParaRPr>
          </a:p>
        </p:txBody>
      </p:sp>
      <p:pic>
        <p:nvPicPr>
          <p:cNvPr id="6" name="Content Placeholder 5">
            <a:extLst>
              <a:ext uri="{FF2B5EF4-FFF2-40B4-BE49-F238E27FC236}">
                <a16:creationId xmlns:a16="http://schemas.microsoft.com/office/drawing/2014/main" id="{86D76C20-31C6-8101-087D-3E7958253CCF}"/>
              </a:ext>
            </a:extLst>
          </p:cNvPr>
          <p:cNvPicPr>
            <a:picLocks noGrp="1" noChangeAspect="1"/>
          </p:cNvPicPr>
          <p:nvPr>
            <p:ph idx="1"/>
          </p:nvPr>
        </p:nvPicPr>
        <p:blipFill>
          <a:blip r:embed="rId2"/>
          <a:stretch>
            <a:fillRect/>
          </a:stretch>
        </p:blipFill>
        <p:spPr>
          <a:xfrm>
            <a:off x="6022381" y="2762166"/>
            <a:ext cx="2720576" cy="1943268"/>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FFD56171-331A-0F7F-4976-9B0BDDEF8A44}"/>
              </a:ext>
            </a:extLst>
          </p:cNvPr>
          <p:cNvSpPr>
            <a:spLocks noGrp="1"/>
          </p:cNvSpPr>
          <p:nvPr>
            <p:ph type="body" sz="half" idx="2"/>
          </p:nvPr>
        </p:nvSpPr>
        <p:spPr>
          <a:xfrm>
            <a:off x="861376" y="838201"/>
            <a:ext cx="4369385" cy="5076602"/>
          </a:xfrm>
        </p:spPr>
        <p:txBody>
          <a:bodyPr>
            <a:noAutofit/>
          </a:bodyPr>
          <a:lstStyle/>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total loss displayed in the </a:t>
            </a:r>
            <a:r>
              <a:rPr lang="en-IN" sz="1800" dirty="0" err="1">
                <a:solidFill>
                  <a:srgbClr val="EBF5FA"/>
                </a:solidFill>
                <a:latin typeface="Arial" panose="020B0604020202020204" pitchFamily="34" charset="0"/>
                <a:cs typeface="Arial" panose="020B0604020202020204" pitchFamily="34" charset="0"/>
              </a:rPr>
              <a:t>center</a:t>
            </a:r>
            <a:r>
              <a:rPr lang="en-IN" sz="1800" dirty="0">
                <a:solidFill>
                  <a:srgbClr val="EBF5FA"/>
                </a:solidFill>
                <a:latin typeface="Arial" panose="020B0604020202020204" pitchFamily="34" charset="0"/>
                <a:cs typeface="Arial" panose="020B0604020202020204" pitchFamily="34" charset="0"/>
              </a:rPr>
              <a:t> is 5.05M.</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segment of the ring represents an industry, with its loss amount and percentage share.</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Industries included: IT, Banking, Government, Retail, Healthcare, Telecommunications, and Education.</a:t>
            </a:r>
            <a:endParaRPr lang="en-US" sz="1800" dirty="0">
              <a:latin typeface="Arial" panose="020B0604020202020204" pitchFamily="34" charset="0"/>
              <a:cs typeface="Arial" panose="020B0604020202020204" pitchFamily="34" charset="0"/>
            </a:endParaRPr>
          </a:p>
          <a:p>
            <a:pPr marL="742950" lvl="1" indent="-28575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IT is identified as the top loss industry.</a:t>
            </a:r>
          </a:p>
          <a:p>
            <a:endParaRPr lang="en-IN" sz="1800" dirty="0"/>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5576295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7589B-FD3C-5F76-9F84-9A83D5C8744D}"/>
              </a:ext>
            </a:extLst>
          </p:cNvPr>
          <p:cNvSpPr>
            <a:spLocks noGrp="1"/>
          </p:cNvSpPr>
          <p:nvPr>
            <p:ph type="title"/>
          </p:nvPr>
        </p:nvSpPr>
        <p:spPr>
          <a:xfrm>
            <a:off x="1154952" y="235975"/>
            <a:ext cx="7605589" cy="904567"/>
          </a:xfrm>
        </p:spPr>
        <p:txBody>
          <a:bodyPr/>
          <a:lstStyle/>
          <a:p>
            <a:r>
              <a:rPr lang="en-US" b="1" dirty="0">
                <a:solidFill>
                  <a:srgbClr val="EBF5FA"/>
                </a:solidFill>
                <a:latin typeface="Arial" panose="020B0604020202020204" pitchFamily="34" charset="0"/>
                <a:cs typeface="Arial" panose="020B0604020202020204" pitchFamily="34" charset="0"/>
              </a:rPr>
              <a:t>Defense Effectiveness </a:t>
            </a:r>
            <a:br>
              <a:rPr lang="en-US" b="1" dirty="0">
                <a:solidFill>
                  <a:schemeClr val="tx1"/>
                </a:solidFill>
                <a:latin typeface="Arial" panose="020B0604020202020204" pitchFamily="34" charset="0"/>
                <a:cs typeface="Arial" panose="020B0604020202020204" pitchFamily="34" charset="0"/>
              </a:rPr>
            </a:br>
            <a:endParaRPr lang="en-IN" dirty="0">
              <a:solidFill>
                <a:schemeClr val="tx1"/>
              </a:solidFill>
            </a:endParaRPr>
          </a:p>
        </p:txBody>
      </p:sp>
      <p:pic>
        <p:nvPicPr>
          <p:cNvPr id="6" name="Content Placeholder 5">
            <a:extLst>
              <a:ext uri="{FF2B5EF4-FFF2-40B4-BE49-F238E27FC236}">
                <a16:creationId xmlns:a16="http://schemas.microsoft.com/office/drawing/2014/main" id="{BA76E7A4-F308-ED59-38B2-7928D2179EE1}"/>
              </a:ext>
            </a:extLst>
          </p:cNvPr>
          <p:cNvPicPr>
            <a:picLocks noGrp="1" noChangeAspect="1"/>
          </p:cNvPicPr>
          <p:nvPr>
            <p:ph idx="1"/>
          </p:nvPr>
        </p:nvPicPr>
        <p:blipFill>
          <a:blip r:embed="rId2"/>
          <a:stretch>
            <a:fillRect/>
          </a:stretch>
        </p:blipFill>
        <p:spPr>
          <a:xfrm>
            <a:off x="6174794" y="2811700"/>
            <a:ext cx="2415749" cy="1844200"/>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68BCD303-AD72-23BF-9B51-E73191126491}"/>
              </a:ext>
            </a:extLst>
          </p:cNvPr>
          <p:cNvSpPr>
            <a:spLocks noGrp="1"/>
          </p:cNvSpPr>
          <p:nvPr>
            <p:ph type="body" sz="half" idx="2"/>
          </p:nvPr>
        </p:nvSpPr>
        <p:spPr>
          <a:xfrm>
            <a:off x="1007469" y="995680"/>
            <a:ext cx="4213460" cy="5768914"/>
          </a:xfrm>
        </p:spPr>
        <p:txBody>
          <a:bodyPr>
            <a:noAutofit/>
          </a:bodyPr>
          <a:lstStyle/>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chart is divided into five </a:t>
            </a:r>
            <a:r>
              <a:rPr lang="en-IN" sz="1800" dirty="0" err="1">
                <a:solidFill>
                  <a:srgbClr val="EBF5FA"/>
                </a:solidFill>
                <a:latin typeface="Arial" panose="020B0604020202020204" pitchFamily="34" charset="0"/>
                <a:cs typeface="Arial" panose="020B0604020202020204" pitchFamily="34" charset="0"/>
              </a:rPr>
              <a:t>colored</a:t>
            </a:r>
            <a:r>
              <a:rPr lang="en-IN" sz="1800" dirty="0">
                <a:solidFill>
                  <a:srgbClr val="EBF5FA"/>
                </a:solidFill>
                <a:latin typeface="Arial" panose="020B0604020202020204" pitchFamily="34" charset="0"/>
                <a:cs typeface="Arial" panose="020B0604020202020204" pitchFamily="34" charset="0"/>
              </a:rPr>
              <a:t> segments, each representing a </a:t>
            </a:r>
            <a:r>
              <a:rPr lang="en-IN" sz="1800" dirty="0" err="1">
                <a:solidFill>
                  <a:srgbClr val="EBF5FA"/>
                </a:solidFill>
                <a:latin typeface="Arial" panose="020B0604020202020204" pitchFamily="34" charset="0"/>
                <a:cs typeface="Arial" panose="020B0604020202020204" pitchFamily="34" charset="0"/>
              </a:rPr>
              <a:t>defense</a:t>
            </a:r>
            <a:r>
              <a:rPr lang="en-IN" sz="1800" dirty="0">
                <a:solidFill>
                  <a:srgbClr val="EBF5FA"/>
                </a:solidFill>
                <a:latin typeface="Arial" panose="020B0604020202020204" pitchFamily="34" charset="0"/>
                <a:cs typeface="Arial" panose="020B0604020202020204" pitchFamily="34" charset="0"/>
              </a:rPr>
              <a:t> measure: VPN, Encryption, AI-based Detection, Antivirus, and Firewall.</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Each segment is labelled with a value around 0.04K and a percentage close to 20%.</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a:t>
            </a:r>
            <a:r>
              <a:rPr lang="en-IN" sz="1800" dirty="0" err="1">
                <a:solidFill>
                  <a:srgbClr val="EBF5FA"/>
                </a:solidFill>
                <a:latin typeface="Arial" panose="020B0604020202020204" pitchFamily="34" charset="0"/>
                <a:cs typeface="Arial" panose="020B0604020202020204" pitchFamily="34" charset="0"/>
              </a:rPr>
              <a:t>center</a:t>
            </a:r>
            <a:r>
              <a:rPr lang="en-IN" sz="1800" dirty="0">
                <a:solidFill>
                  <a:srgbClr val="EBF5FA"/>
                </a:solidFill>
                <a:latin typeface="Arial" panose="020B0604020202020204" pitchFamily="34" charset="0"/>
                <a:cs typeface="Arial" panose="020B0604020202020204" pitchFamily="34" charset="0"/>
              </a:rPr>
              <a:t> displays the number 36.48, which likely represents the overall effectiveness score or combined measure.</a:t>
            </a:r>
          </a:p>
          <a:p>
            <a:pPr marL="800100" lvl="1" indent="-34290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The Chart identifies VPN as the top defense method.</a:t>
            </a:r>
            <a:endParaRPr lang="en-IN" sz="1800" dirty="0">
              <a:latin typeface="Arial" panose="020B0604020202020204" pitchFamily="34" charset="0"/>
              <a:cs typeface="Arial" panose="020B0604020202020204" pitchFamily="34" charset="0"/>
            </a:endParaRPr>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745166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F1E93-435F-85FF-F382-348A7F6B0D91}"/>
              </a:ext>
            </a:extLst>
          </p:cNvPr>
          <p:cNvSpPr>
            <a:spLocks noGrp="1"/>
          </p:cNvSpPr>
          <p:nvPr>
            <p:ph type="title"/>
          </p:nvPr>
        </p:nvSpPr>
        <p:spPr>
          <a:xfrm>
            <a:off x="910536" y="233353"/>
            <a:ext cx="7290957" cy="599768"/>
          </a:xfrm>
        </p:spPr>
        <p:txBody>
          <a:bodyPr/>
          <a:lstStyle/>
          <a:p>
            <a:r>
              <a:rPr lang="en-US" b="1" dirty="0">
                <a:solidFill>
                  <a:srgbClr val="EBF5FA"/>
                </a:solidFill>
                <a:latin typeface="Arial" panose="020B0604020202020204" pitchFamily="34" charset="0"/>
                <a:cs typeface="Arial" panose="020B0604020202020204" pitchFamily="34" charset="0"/>
              </a:rPr>
              <a:t>Source &amp; Recovery Time Analysis</a:t>
            </a:r>
            <a:endParaRPr lang="en-IN" dirty="0">
              <a:solidFill>
                <a:schemeClr val="tx1"/>
              </a:solidFill>
            </a:endParaRPr>
          </a:p>
        </p:txBody>
      </p:sp>
      <p:pic>
        <p:nvPicPr>
          <p:cNvPr id="6" name="Content Placeholder 5">
            <a:extLst>
              <a:ext uri="{FF2B5EF4-FFF2-40B4-BE49-F238E27FC236}">
                <a16:creationId xmlns:a16="http://schemas.microsoft.com/office/drawing/2014/main" id="{0BB23DED-D22C-8CDD-8987-E163B3A60906}"/>
              </a:ext>
            </a:extLst>
          </p:cNvPr>
          <p:cNvPicPr>
            <a:picLocks noGrp="1" noChangeAspect="1"/>
          </p:cNvPicPr>
          <p:nvPr>
            <p:ph idx="1"/>
          </p:nvPr>
        </p:nvPicPr>
        <p:blipFill>
          <a:blip r:embed="rId2"/>
          <a:stretch>
            <a:fillRect/>
          </a:stretch>
        </p:blipFill>
        <p:spPr>
          <a:xfrm>
            <a:off x="5850916" y="2735493"/>
            <a:ext cx="3063505" cy="1996613"/>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18DA2EF8-1887-C04C-D12F-5AD0813BCFBE}"/>
              </a:ext>
            </a:extLst>
          </p:cNvPr>
          <p:cNvSpPr>
            <a:spLocks noGrp="1"/>
          </p:cNvSpPr>
          <p:nvPr>
            <p:ph type="body" sz="half" idx="2"/>
          </p:nvPr>
        </p:nvSpPr>
        <p:spPr>
          <a:xfrm>
            <a:off x="910536" y="1182493"/>
            <a:ext cx="4359555" cy="5139649"/>
          </a:xfrm>
        </p:spPr>
        <p:txBody>
          <a:bodyPr>
            <a:noAutofit/>
          </a:bodyPr>
          <a:lstStyle/>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x-axis lists four categories: Hacker Group, Insider, Nation-state, and Unknown.</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The y-axis ranges from 36.0 to 37.4, representing recovery time values.</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A blue line connects the data points, showing how recovery times change across different sources.</a:t>
            </a:r>
          </a:p>
          <a:p>
            <a:pPr marL="742950" lvl="1" indent="-28575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It helps identify which sources are associated with higher recovery-time values.</a:t>
            </a:r>
          </a:p>
          <a:p>
            <a:endParaRPr lang="en-IN" sz="1800" dirty="0">
              <a:latin typeface="Arial" panose="020B0604020202020204" pitchFamily="34" charset="0"/>
              <a:cs typeface="Arial" panose="020B0604020202020204" pitchFamily="34" charset="0"/>
            </a:endParaRPr>
          </a:p>
        </p:txBody>
      </p:sp>
      <p:sp>
        <p:nvSpPr>
          <p:cNvPr id="7" name="Rectangle 6"/>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090309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D3ABF-227A-FE11-066B-A8DF6A855952}"/>
              </a:ext>
            </a:extLst>
          </p:cNvPr>
          <p:cNvSpPr>
            <a:spLocks noGrp="1"/>
          </p:cNvSpPr>
          <p:nvPr>
            <p:ph type="title"/>
          </p:nvPr>
        </p:nvSpPr>
        <p:spPr>
          <a:xfrm>
            <a:off x="624011" y="275141"/>
            <a:ext cx="7281124" cy="489155"/>
          </a:xfrm>
        </p:spPr>
        <p:txBody>
          <a:bodyPr/>
          <a:lstStyle/>
          <a:p>
            <a:r>
              <a:rPr lang="en-US" b="1" dirty="0">
                <a:solidFill>
                  <a:srgbClr val="EBF5FA"/>
                </a:solidFill>
                <a:latin typeface="Arial" panose="020B0604020202020204" pitchFamily="34" charset="0"/>
                <a:cs typeface="Arial" panose="020B0604020202020204" pitchFamily="34" charset="0"/>
              </a:rPr>
              <a:t>Vulnerability Insights </a:t>
            </a:r>
            <a:endParaRPr lang="en-IN" dirty="0">
              <a:solidFill>
                <a:schemeClr val="tx1"/>
              </a:solidFill>
            </a:endParaRPr>
          </a:p>
        </p:txBody>
      </p:sp>
      <p:pic>
        <p:nvPicPr>
          <p:cNvPr id="8" name="Content Placeholder 7">
            <a:extLst>
              <a:ext uri="{FF2B5EF4-FFF2-40B4-BE49-F238E27FC236}">
                <a16:creationId xmlns:a16="http://schemas.microsoft.com/office/drawing/2014/main" id="{01D811F4-C519-CDE6-60F0-EDED5A0149F0}"/>
              </a:ext>
            </a:extLst>
          </p:cNvPr>
          <p:cNvPicPr>
            <a:picLocks noGrp="1" noChangeAspect="1"/>
          </p:cNvPicPr>
          <p:nvPr>
            <p:ph idx="1"/>
          </p:nvPr>
        </p:nvPicPr>
        <p:blipFill>
          <a:blip r:embed="rId2"/>
          <a:stretch>
            <a:fillRect/>
          </a:stretch>
        </p:blipFill>
        <p:spPr>
          <a:xfrm>
            <a:off x="5908071" y="2750735"/>
            <a:ext cx="2949196" cy="1966130"/>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01512713-0F56-1176-A5CA-E270B39C28C0}"/>
              </a:ext>
            </a:extLst>
          </p:cNvPr>
          <p:cNvSpPr>
            <a:spLocks noGrp="1"/>
          </p:cNvSpPr>
          <p:nvPr>
            <p:ph type="body" sz="half" idx="2"/>
          </p:nvPr>
        </p:nvSpPr>
        <p:spPr>
          <a:xfrm>
            <a:off x="958308" y="1010101"/>
            <a:ext cx="4724737" cy="5572758"/>
          </a:xfrm>
        </p:spPr>
        <p:txBody>
          <a:bodyPr>
            <a:noAutofit/>
          </a:bodyPr>
          <a:lstStyle/>
          <a:p>
            <a:pPr marL="342900" indent="-34290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X-Axis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the four categories of vulnerabilities: Zero-day, Social Engineering, Unpatched Software, and Weak Passwords.</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Y-Axis :</a:t>
            </a:r>
          </a:p>
          <a:p>
            <a:pPr marL="742950" lvl="1" indent="-285750">
              <a:buFont typeface="Courier New" panose="02070309020205020404" pitchFamily="49" charset="0"/>
              <a:buChar char="o"/>
            </a:pPr>
            <a:r>
              <a:rPr lang="en-IN" sz="1800" dirty="0">
                <a:solidFill>
                  <a:srgbClr val="EBF5FA"/>
                </a:solidFill>
                <a:latin typeface="Arial" panose="020B0604020202020204" pitchFamily="34" charset="0"/>
                <a:cs typeface="Arial" panose="020B0604020202020204" pitchFamily="34" charset="0"/>
              </a:rPr>
              <a:t>Represents the percentage scale, ranging from 0% to 100%.</a:t>
            </a:r>
            <a:endParaRPr lang="en-US" sz="1800" dirty="0">
              <a:latin typeface="Arial" panose="020B0604020202020204" pitchFamily="34" charset="0"/>
              <a:cs typeface="Arial" panose="020B0604020202020204" pitchFamily="34" charset="0"/>
            </a:endParaRPr>
          </a:p>
          <a:p>
            <a:pPr marL="800100" lvl="1" indent="-342900">
              <a:buFont typeface="Courier New" panose="02070309020205020404" pitchFamily="49" charset="0"/>
              <a:buChar char="o"/>
            </a:pPr>
            <a:r>
              <a:rPr lang="en-US" sz="1800" dirty="0">
                <a:solidFill>
                  <a:srgbClr val="EBF5FA"/>
                </a:solidFill>
                <a:latin typeface="Arial" panose="020B0604020202020204" pitchFamily="34" charset="0"/>
                <a:cs typeface="Arial" panose="020B0604020202020204" pitchFamily="34" charset="0"/>
              </a:rPr>
              <a:t>The Vulnerability Insights chart compares different security vulnerabilities. </a:t>
            </a:r>
          </a:p>
          <a:p>
            <a:pPr marL="342900" indent="-342900">
              <a:buFont typeface="Wingdings" panose="05000000000000000000" pitchFamily="2" charset="2"/>
              <a:buChar char="q"/>
            </a:pPr>
            <a:r>
              <a:rPr lang="en-US" sz="1800" dirty="0">
                <a:solidFill>
                  <a:srgbClr val="EBF5FA"/>
                </a:solidFill>
                <a:latin typeface="Arial" panose="020B0604020202020204" pitchFamily="34" charset="0"/>
                <a:cs typeface="Arial" panose="020B0604020202020204" pitchFamily="34" charset="0"/>
              </a:rPr>
              <a:t>It helps us understand how vulnerability categories are distributed across the attack data. </a:t>
            </a:r>
          </a:p>
          <a:p>
            <a:pPr marL="342900" indent="-342900">
              <a:buFont typeface="Wingdings" panose="05000000000000000000" pitchFamily="2" charset="2"/>
              <a:buChar char="q"/>
            </a:pPr>
            <a:r>
              <a:rPr lang="en-US" sz="1800" dirty="0">
                <a:solidFill>
                  <a:srgbClr val="EBF5FA"/>
                </a:solidFill>
                <a:latin typeface="Arial" panose="020B0604020202020204" pitchFamily="34" charset="0"/>
                <a:cs typeface="Arial" panose="020B0604020202020204" pitchFamily="34" charset="0"/>
              </a:rPr>
              <a:t>Unpatched Software is highlighted as the top vulnerability in the dashboard.</a:t>
            </a:r>
          </a:p>
          <a:p>
            <a:endParaRPr lang="en-IN" sz="1800" dirty="0">
              <a:latin typeface="Arial" panose="020B0604020202020204" pitchFamily="34" charset="0"/>
              <a:cs typeface="Arial" panose="020B0604020202020204" pitchFamily="34" charset="0"/>
            </a:endParaRPr>
          </a:p>
        </p:txBody>
      </p:sp>
      <p:sp>
        <p:nvSpPr>
          <p:cNvPr id="9" name="Rectangle 8"/>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7671169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3016308F-FC4D-5D06-1C64-3245BEF31272}"/>
              </a:ext>
            </a:extLst>
          </p:cNvPr>
          <p:cNvPicPr>
            <a:picLocks noGrp="1" noChangeAspect="1"/>
          </p:cNvPicPr>
          <p:nvPr>
            <p:ph idx="1"/>
          </p:nvPr>
        </p:nvPicPr>
        <p:blipFill>
          <a:blip r:embed="rId2"/>
          <a:stretch>
            <a:fillRect/>
          </a:stretch>
        </p:blipFill>
        <p:spPr>
          <a:xfrm>
            <a:off x="6489289" y="1818968"/>
            <a:ext cx="5358581" cy="3696929"/>
          </a:xfrm>
          <a:prstGeom prst="rect">
            <a:avLst/>
          </a:prstGeom>
          <a:ln>
            <a:solidFill>
              <a:schemeClr val="tx1"/>
            </a:solidFill>
          </a:ln>
          <a:effectLst>
            <a:glow rad="139700">
              <a:schemeClr val="accent2">
                <a:satMod val="175000"/>
                <a:alpha val="40000"/>
              </a:schemeClr>
            </a:glow>
            <a:outerShdw blurRad="50800" dist="38100" dir="2700000" algn="tl" rotWithShape="0">
              <a:prstClr val="black">
                <a:alpha val="40000"/>
              </a:prstClr>
            </a:outerShdw>
            <a:softEdge rad="12700"/>
          </a:effectLst>
          <a:scene3d>
            <a:camera prst="obliqueTopLeft"/>
            <a:lightRig rig="threePt" dir="t"/>
          </a:scene3d>
          <a:sp3d>
            <a:bevelT/>
          </a:sp3d>
        </p:spPr>
      </p:pic>
      <p:sp>
        <p:nvSpPr>
          <p:cNvPr id="4" name="Text Placeholder 3">
            <a:extLst>
              <a:ext uri="{FF2B5EF4-FFF2-40B4-BE49-F238E27FC236}">
                <a16:creationId xmlns:a16="http://schemas.microsoft.com/office/drawing/2014/main" id="{0D67CF71-DD37-CF61-D268-8BF828D44DA8}"/>
              </a:ext>
            </a:extLst>
          </p:cNvPr>
          <p:cNvSpPr>
            <a:spLocks noGrp="1"/>
          </p:cNvSpPr>
          <p:nvPr>
            <p:ph type="body" sz="half" idx="2"/>
          </p:nvPr>
        </p:nvSpPr>
        <p:spPr>
          <a:xfrm>
            <a:off x="521110" y="265470"/>
            <a:ext cx="4689987" cy="6302477"/>
          </a:xfrm>
        </p:spPr>
        <p:txBody>
          <a:bodyPr>
            <a:noAutofit/>
          </a:bodyPr>
          <a:lstStyle/>
          <a:p>
            <a:r>
              <a:rPr lang="en-US" sz="2400" b="1" dirty="0">
                <a:solidFill>
                  <a:srgbClr val="EBF5FA"/>
                </a:solidFill>
                <a:latin typeface="Arial" panose="020B0604020202020204" pitchFamily="34" charset="0"/>
                <a:cs typeface="Arial" panose="020B0604020202020204" pitchFamily="34" charset="0"/>
              </a:rPr>
              <a:t>Source &amp; Attack</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X-Axis :</a:t>
            </a:r>
          </a:p>
          <a:p>
            <a:pPr lvl="1"/>
            <a:r>
              <a:rPr lang="en-IN" sz="1800" dirty="0">
                <a:solidFill>
                  <a:srgbClr val="EBF5FA"/>
                </a:solidFill>
                <a:latin typeface="Arial" panose="020B0604020202020204" pitchFamily="34" charset="0"/>
                <a:cs typeface="Arial" panose="020B0604020202020204" pitchFamily="34" charset="0"/>
              </a:rPr>
              <a:t>Shows the attack volume scale, ranging from 0K to 30K.</a:t>
            </a:r>
          </a:p>
          <a:p>
            <a:pPr marL="285750" indent="-285750">
              <a:buFont typeface="Wingdings" panose="05000000000000000000" pitchFamily="2" charset="2"/>
              <a:buChar char="q"/>
            </a:pPr>
            <a:r>
              <a:rPr lang="en-IN" sz="1800" dirty="0">
                <a:solidFill>
                  <a:srgbClr val="EBF5FA"/>
                </a:solidFill>
                <a:latin typeface="Arial" panose="020B0604020202020204" pitchFamily="34" charset="0"/>
                <a:cs typeface="Arial" panose="020B0604020202020204" pitchFamily="34" charset="0"/>
              </a:rPr>
              <a:t>Y-Axis :</a:t>
            </a:r>
          </a:p>
          <a:p>
            <a:pPr lvl="1"/>
            <a:r>
              <a:rPr lang="en-IN" sz="1800" dirty="0">
                <a:solidFill>
                  <a:srgbClr val="EBF5FA"/>
                </a:solidFill>
                <a:latin typeface="Arial" panose="020B0604020202020204" pitchFamily="34" charset="0"/>
                <a:cs typeface="Arial" panose="020B0604020202020204" pitchFamily="34" charset="0"/>
              </a:rPr>
              <a:t>Lists the attack sources: Nation-state, Unknown, Insider, and Hacker Group.</a:t>
            </a:r>
            <a:endParaRPr lang="en-US" sz="18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q"/>
            </a:pPr>
            <a:r>
              <a:rPr lang="en-US" sz="1800" dirty="0">
                <a:solidFill>
                  <a:srgbClr val="EBF5FA"/>
                </a:solidFill>
                <a:latin typeface="Arial" panose="020B0604020202020204" pitchFamily="34" charset="0"/>
                <a:cs typeface="Arial" panose="020B0604020202020204" pitchFamily="34" charset="0"/>
              </a:rPr>
              <a:t>The Source and Attack chart shows the relationship between attack sources and attack activity. </a:t>
            </a:r>
          </a:p>
          <a:p>
            <a:pPr marL="342900" indent="-342900">
              <a:buFont typeface="Wingdings" panose="05000000000000000000" pitchFamily="2" charset="2"/>
              <a:buChar char="q"/>
            </a:pPr>
            <a:r>
              <a:rPr lang="en-US" sz="1800" dirty="0">
                <a:solidFill>
                  <a:srgbClr val="EBF5FA"/>
                </a:solidFill>
                <a:latin typeface="Arial" panose="020B0604020202020204" pitchFamily="34" charset="0"/>
                <a:cs typeface="Arial" panose="020B0604020202020204" pitchFamily="34" charset="0"/>
              </a:rPr>
              <a:t>It helps us understand how different sources contribute to cybersecurity incidents.</a:t>
            </a:r>
            <a:endParaRPr lang="en-IN" sz="1800" dirty="0">
              <a:latin typeface="Arial" panose="020B0604020202020204" pitchFamily="34" charset="0"/>
              <a:cs typeface="Arial" panose="020B0604020202020204" pitchFamily="34" charset="0"/>
            </a:endParaRPr>
          </a:p>
        </p:txBody>
      </p:sp>
      <p:sp>
        <p:nvSpPr>
          <p:cNvPr id="8" name="Rectangle 7"/>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40214444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90309-8737-73E6-6EBF-DBC742B5BF5B}"/>
              </a:ext>
            </a:extLst>
          </p:cNvPr>
          <p:cNvSpPr>
            <a:spLocks noGrp="1"/>
          </p:cNvSpPr>
          <p:nvPr>
            <p:ph type="title"/>
          </p:nvPr>
        </p:nvSpPr>
        <p:spPr>
          <a:xfrm>
            <a:off x="838200" y="365126"/>
            <a:ext cx="10515600" cy="559106"/>
          </a:xfrm>
        </p:spPr>
        <p:txBody>
          <a:bodyPr>
            <a:noAutofit/>
          </a:bodyPr>
          <a:lstStyle/>
          <a:p>
            <a:r>
              <a:rPr lang="en-US" sz="3200" b="1" dirty="0">
                <a:solidFill>
                  <a:srgbClr val="EBF5FA"/>
                </a:solidFill>
                <a:latin typeface="Arial" panose="020B0604020202020204" pitchFamily="34" charset="0"/>
                <a:cs typeface="Arial" panose="020B0604020202020204" pitchFamily="34" charset="0"/>
              </a:rPr>
              <a:t>Conclusion</a:t>
            </a:r>
            <a:endParaRPr lang="en-IN" sz="3200" dirty="0">
              <a:solidFill>
                <a:schemeClr val="tx1"/>
              </a:solidFill>
            </a:endParaRPr>
          </a:p>
        </p:txBody>
      </p:sp>
      <p:sp>
        <p:nvSpPr>
          <p:cNvPr id="3" name="Content Placeholder 2">
            <a:extLst>
              <a:ext uri="{FF2B5EF4-FFF2-40B4-BE49-F238E27FC236}">
                <a16:creationId xmlns:a16="http://schemas.microsoft.com/office/drawing/2014/main" id="{147E8FC0-524B-B9BB-B6EE-2A9756078B5D}"/>
              </a:ext>
            </a:extLst>
          </p:cNvPr>
          <p:cNvSpPr>
            <a:spLocks noGrp="1"/>
          </p:cNvSpPr>
          <p:nvPr>
            <p:ph idx="1"/>
          </p:nvPr>
        </p:nvSpPr>
        <p:spPr>
          <a:xfrm>
            <a:off x="1034845" y="1253331"/>
            <a:ext cx="8384458" cy="4351338"/>
          </a:xfrm>
        </p:spPr>
        <p:txBody>
          <a:bodyPr>
            <a:normAutofit/>
          </a:bodyPr>
          <a:lstStyle/>
          <a:p>
            <a:pPr algn="just"/>
            <a:r>
              <a:rPr lang="en-US" sz="2000" dirty="0">
                <a:solidFill>
                  <a:srgbClr val="EBF5FA"/>
                </a:solidFill>
                <a:latin typeface="Arial" panose="020B0604020202020204" pitchFamily="34" charset="0"/>
                <a:cs typeface="Arial" panose="020B0604020202020204" pitchFamily="34" charset="0"/>
              </a:rPr>
              <a:t>The project provides a complete view of global cybersecurity threats.</a:t>
            </a:r>
          </a:p>
          <a:p>
            <a:pPr algn="just"/>
            <a:r>
              <a:rPr lang="en-US" sz="2000" dirty="0">
                <a:solidFill>
                  <a:srgbClr val="EBF5FA"/>
                </a:solidFill>
                <a:latin typeface="Arial" panose="020B0604020202020204" pitchFamily="34" charset="0"/>
                <a:cs typeface="Arial" panose="020B0604020202020204" pitchFamily="34" charset="0"/>
              </a:rPr>
              <a:t>Power BI helps convert cybersecurity data into meaningful visual insights.</a:t>
            </a:r>
          </a:p>
          <a:p>
            <a:pPr algn="just"/>
            <a:r>
              <a:rPr lang="en-US" sz="2000" dirty="0">
                <a:solidFill>
                  <a:srgbClr val="EBF5FA"/>
                </a:solidFill>
                <a:latin typeface="Arial" panose="020B0604020202020204" pitchFamily="34" charset="0"/>
                <a:cs typeface="Arial" panose="020B0604020202020204" pitchFamily="34" charset="0"/>
              </a:rPr>
              <a:t>The dashboard identifies important patterns in attacks, financial loss, users, industries, countries and defense methods.</a:t>
            </a:r>
          </a:p>
          <a:p>
            <a:pPr algn="just"/>
            <a:r>
              <a:rPr lang="en-US" sz="2000" dirty="0">
                <a:solidFill>
                  <a:srgbClr val="EBF5FA"/>
                </a:solidFill>
                <a:latin typeface="Arial" panose="020B0604020202020204" pitchFamily="34" charset="0"/>
                <a:cs typeface="Arial" panose="020B0604020202020204" pitchFamily="34" charset="0"/>
              </a:rPr>
              <a:t>The analysis can help organizations understand their major cybersecurity risks.</a:t>
            </a:r>
          </a:p>
          <a:p>
            <a:pPr algn="just"/>
            <a:r>
              <a:rPr lang="en-US" sz="2000" dirty="0">
                <a:solidFill>
                  <a:srgbClr val="EBF5FA"/>
                </a:solidFill>
                <a:latin typeface="Arial" panose="020B0604020202020204" pitchFamily="34" charset="0"/>
                <a:cs typeface="Arial" panose="020B0604020202020204" pitchFamily="34" charset="0"/>
              </a:rPr>
              <a:t>The insights can support better security planning, monitoring and risk reduction.</a:t>
            </a:r>
            <a:endParaRPr lang="en-IN" sz="2000" dirty="0">
              <a:latin typeface="Arial" panose="020B0604020202020204" pitchFamily="34" charset="0"/>
              <a:cs typeface="Arial" panose="020B0604020202020204" pitchFamily="34" charset="0"/>
            </a:endParaRPr>
          </a:p>
        </p:txBody>
      </p:sp>
      <p:sp>
        <p:nvSpPr>
          <p:cNvPr id="4" name="Rectangle 3"/>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1511272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81223"/>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4EDCD40-B526-64BB-98EA-DBAE34CBB101}"/>
              </a:ext>
            </a:extLst>
          </p:cNvPr>
          <p:cNvSpPr txBox="1"/>
          <p:nvPr/>
        </p:nvSpPr>
        <p:spPr>
          <a:xfrm>
            <a:off x="4648281" y="2973434"/>
            <a:ext cx="8131277" cy="769441"/>
          </a:xfrm>
          <a:prstGeom prst="rect">
            <a:avLst/>
          </a:prstGeom>
          <a:noFill/>
        </p:spPr>
        <p:txBody>
          <a:bodyPr wrap="square" rtlCol="0">
            <a:spAutoFit/>
          </a:bodyPr>
          <a:lstStyle/>
          <a:p>
            <a:r>
              <a:rPr lang="en-US" sz="4400" dirty="0">
                <a:solidFill>
                  <a:srgbClr val="EBF5FA"/>
                </a:solidFill>
                <a:latin typeface="Arial" panose="020B0604020202020204" pitchFamily="34" charset="0"/>
                <a:cs typeface="Arial" panose="020B0604020202020204" pitchFamily="34" charset="0"/>
              </a:rPr>
              <a:t>Thank you</a:t>
            </a:r>
            <a:endParaRPr lang="en-IN" sz="4400" dirty="0">
              <a:latin typeface="Arial" panose="020B0604020202020204" pitchFamily="34" charset="0"/>
              <a:cs typeface="Arial" panose="020B0604020202020204" pitchFamily="34" charset="0"/>
            </a:endParaRPr>
          </a:p>
        </p:txBody>
      </p:sp>
      <p:sp>
        <p:nvSpPr>
          <p:cNvPr id="5" name="Rectangle 4"/>
          <p:cNvSpPr/>
          <p:nvPr/>
        </p:nvSpPr>
        <p:spPr>
          <a:xfrm>
            <a:off x="0" y="0"/>
            <a:ext cx="12192000" cy="123443"/>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755130"/>
            <a:ext cx="12192000" cy="102870"/>
          </a:xfrm>
          <a:prstGeom prst="rect">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094720" y="411480"/>
            <a:ext cx="685800" cy="685800"/>
          </a:xfrm>
          <a:prstGeom prst="ellipse">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1582400" y="891540"/>
            <a:ext cx="377190" cy="37719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82880" y="6035040"/>
            <a:ext cx="480060" cy="480060"/>
          </a:xfrm>
          <a:prstGeom prst="ellipse">
            <a:avLst/>
          </a:prstGeom>
          <a:solidFill>
            <a:srgbClr val="2D69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765280" y="1371600"/>
            <a:ext cx="36576" cy="3977639"/>
          </a:xfrm>
          <a:prstGeom prst="rect">
            <a:avLst/>
          </a:prstGeom>
          <a:solidFill>
            <a:srgbClr val="00B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428091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EC76B5"/>
      </a:hlink>
      <a:folHlink>
        <a:srgbClr val="E8ACCD"/>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A207AED3-9ABC-4A18-9978-A59B65688B15}"/>
    </a:ext>
  </a:extLst>
</a:theme>
</file>

<file path=docProps/app.xml><?xml version="1.0" encoding="utf-8"?>
<Properties xmlns="http://schemas.openxmlformats.org/officeDocument/2006/extended-properties" xmlns:vt="http://schemas.openxmlformats.org/officeDocument/2006/docPropsVTypes">
  <Template>Ion</Template>
  <TotalTime>276</TotalTime>
  <Words>1506</Words>
  <Application>Microsoft Office PowerPoint</Application>
  <PresentationFormat>Widescreen</PresentationFormat>
  <Paragraphs>191</Paragraphs>
  <Slides>27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Century Gothic</vt:lpstr>
      <vt:lpstr>Courier New</vt:lpstr>
      <vt:lpstr>Wingdings</vt:lpstr>
      <vt:lpstr>Wingdings 3</vt:lpstr>
      <vt:lpstr>Ion</vt:lpstr>
      <vt:lpstr>Global Cybersecurity Threats</vt:lpstr>
      <vt:lpstr>Introduction</vt:lpstr>
      <vt:lpstr>Data Cleaning</vt:lpstr>
      <vt:lpstr>Problem Statement &amp; Objectives</vt:lpstr>
      <vt:lpstr>Dataset</vt:lpstr>
      <vt:lpstr>Star Schema</vt:lpstr>
      <vt:lpstr>Overview analyzes</vt:lpstr>
      <vt:lpstr>Yearly Financial Loss</vt:lpstr>
      <vt:lpstr>Affected Users by Year </vt:lpstr>
      <vt:lpstr>Top 3 Yearly Attack Types</vt:lpstr>
      <vt:lpstr>Target industry</vt:lpstr>
      <vt:lpstr>PowerPoint Presentation</vt:lpstr>
      <vt:lpstr>COUNTRY &amp; USER ANALYSIS</vt:lpstr>
      <vt:lpstr>PowerPoint Presentation</vt:lpstr>
      <vt:lpstr>Financial Impact </vt:lpstr>
      <vt:lpstr>Users Impact by Country</vt:lpstr>
      <vt:lpstr>PowerPoint Presentation</vt:lpstr>
      <vt:lpstr>Attack Source by Country</vt:lpstr>
      <vt:lpstr>ATTACK &amp; INDUSTRY ANALYSIS</vt:lpstr>
      <vt:lpstr>PowerPoint Presentation</vt:lpstr>
      <vt:lpstr>Industry Loss Analysis </vt:lpstr>
      <vt:lpstr>Defense Effectiveness  </vt:lpstr>
      <vt:lpstr>Source &amp; Recovery Time Analysis</vt:lpstr>
      <vt:lpstr>Vulnerability Insights </vt:lpstr>
      <vt:lpstr>PowerPoint Presentation</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Mohana Sre</dc:creator>
  <cp:lastModifiedBy>Mohana Sre</cp:lastModifiedBy>
  <cp:revision>2</cp:revision>
  <dcterms:created xsi:type="dcterms:W3CDTF">2026-09-17T14:23:29Z</dcterms:created>
  <dcterms:modified xsi:type="dcterms:W3CDTF">2026-09-26T04:49:01Z</dcterms:modified>
</cp:coreProperties>
</file>